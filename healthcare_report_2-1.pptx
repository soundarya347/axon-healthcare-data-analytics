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0.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3" r:id="rId2"/>
    <p:sldId id="256" r:id="rId3"/>
    <p:sldId id="265" r:id="rId4"/>
    <p:sldId id="266" r:id="rId5"/>
    <p:sldId id="257" r:id="rId6"/>
    <p:sldId id="267" r:id="rId7"/>
    <p:sldId id="258" r:id="rId8"/>
    <p:sldId id="259" r:id="rId9"/>
    <p:sldId id="260" r:id="rId10"/>
    <p:sldId id="261" r:id="rId11"/>
    <p:sldId id="262" r:id="rId12"/>
    <p:sldId id="268" r:id="rId13"/>
    <p:sldId id="269" r:id="rId14"/>
    <p:sldId id="270" r:id="rId15"/>
    <p:sldId id="271" r:id="rId16"/>
    <p:sldId id="263"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6CD"/>
    <a:srgbClr val="0280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Gender Distribution</a:t>
            </a:r>
          </a:p>
        </c:rich>
      </c:tx>
      <c:overlay val="0"/>
    </c:title>
    <c:autoTitleDeleted val="0"/>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2C39A"/>
              </a:solidFill>
              <a:effectLst/>
            </c:spPr>
            <c:extLst>
              <c:ext xmlns:c16="http://schemas.microsoft.com/office/drawing/2014/chart" uri="{C3380CC4-5D6E-409C-BE32-E72D297353CC}">
                <c16:uniqueId val="{00000001-A959-467D-832D-45487FB52BEA}"/>
              </c:ext>
            </c:extLst>
          </c:dPt>
          <c:dPt>
            <c:idx val="1"/>
            <c:bubble3D val="0"/>
            <c:spPr>
              <a:solidFill>
                <a:srgbClr val="028090"/>
              </a:solidFill>
              <a:effectLst/>
            </c:spPr>
            <c:extLst>
              <c:ext xmlns:c16="http://schemas.microsoft.com/office/drawing/2014/chart" uri="{C3380CC4-5D6E-409C-BE32-E72D297353CC}">
                <c16:uniqueId val="{00000003-A959-467D-832D-45487FB52BEA}"/>
              </c:ext>
            </c:extLst>
          </c:dPt>
          <c:dPt>
            <c:idx val="2"/>
            <c:bubble3D val="0"/>
            <c:spPr>
              <a:solidFill>
                <a:srgbClr val="0A2342"/>
              </a:solidFill>
              <a:effectLst/>
            </c:spPr>
            <c:extLst>
              <c:ext xmlns:c16="http://schemas.microsoft.com/office/drawing/2014/chart" uri="{C3380CC4-5D6E-409C-BE32-E72D297353CC}">
                <c16:uniqueId val="{00000005-A959-467D-832D-45487FB52BEA}"/>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959-467D-832D-45487FB52BEA}"/>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959-467D-832D-45487FB52BEA}"/>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959-467D-832D-45487FB52BE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Other</c:v>
                </c:pt>
                <c:pt idx="1">
                  <c:v>Female</c:v>
                </c:pt>
                <c:pt idx="2">
                  <c:v>Male</c:v>
                </c:pt>
              </c:strCache>
            </c:strRef>
          </c:cat>
          <c:val>
            <c:numRef>
              <c:f>Sheet1!$B$2:$B$4</c:f>
              <c:numCache>
                <c:formatCode>General</c:formatCode>
                <c:ptCount val="3"/>
                <c:pt idx="0">
                  <c:v>3403</c:v>
                </c:pt>
                <c:pt idx="1">
                  <c:v>3314</c:v>
                </c:pt>
                <c:pt idx="2">
                  <c:v>3283</c:v>
                </c:pt>
              </c:numCache>
            </c:numRef>
          </c:val>
          <c:extLst>
            <c:ext xmlns:c16="http://schemas.microsoft.com/office/drawing/2014/chart" uri="{C3380CC4-5D6E-409C-BE32-E72D297353CC}">
              <c16:uniqueId val="{00000006-A959-467D-832D-45487FB52BEA}"/>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0F6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Patients by Age Group</a:t>
            </a:r>
          </a:p>
        </c:rich>
      </c:tx>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F14C-4BB0-ABEE-01C109435C48}"/>
              </c:ext>
            </c:extLst>
          </c:dPt>
          <c:dPt>
            <c:idx val="1"/>
            <c:invertIfNegative val="0"/>
            <c:bubble3D val="0"/>
            <c:spPr>
              <a:solidFill>
                <a:srgbClr val="02C39A"/>
              </a:solidFill>
              <a:effectLst/>
            </c:spPr>
            <c:extLst>
              <c:ext xmlns:c16="http://schemas.microsoft.com/office/drawing/2014/chart" uri="{C3380CC4-5D6E-409C-BE32-E72D297353CC}">
                <c16:uniqueId val="{00000003-F14C-4BB0-ABEE-01C109435C48}"/>
              </c:ext>
            </c:extLst>
          </c:dPt>
          <c:dPt>
            <c:idx val="2"/>
            <c:invertIfNegative val="0"/>
            <c:bubble3D val="0"/>
            <c:spPr>
              <a:solidFill>
                <a:srgbClr val="00A896"/>
              </a:solidFill>
              <a:effectLst/>
            </c:spPr>
            <c:extLst>
              <c:ext xmlns:c16="http://schemas.microsoft.com/office/drawing/2014/chart" uri="{C3380CC4-5D6E-409C-BE32-E72D297353CC}">
                <c16:uniqueId val="{00000005-F14C-4BB0-ABEE-01C109435C48}"/>
              </c:ext>
            </c:extLst>
          </c:dPt>
          <c:dPt>
            <c:idx val="3"/>
            <c:invertIfNegative val="0"/>
            <c:bubble3D val="0"/>
            <c:spPr>
              <a:solidFill>
                <a:srgbClr val="0A2342"/>
              </a:solidFill>
              <a:effectLst/>
            </c:spPr>
            <c:extLst>
              <c:ext xmlns:c16="http://schemas.microsoft.com/office/drawing/2014/chart" uri="{C3380CC4-5D6E-409C-BE32-E72D297353CC}">
                <c16:uniqueId val="{00000007-F14C-4BB0-ABEE-01C109435C48}"/>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13–30</c:v>
                </c:pt>
                <c:pt idx="1">
                  <c:v>31–50</c:v>
                </c:pt>
                <c:pt idx="2">
                  <c:v>51–65</c:v>
                </c:pt>
                <c:pt idx="3">
                  <c:v>66–84</c:v>
                </c:pt>
              </c:strCache>
            </c:strRef>
          </c:cat>
          <c:val>
            <c:numRef>
              <c:f>Sheet1!$B$2:$B$5</c:f>
              <c:numCache>
                <c:formatCode>General</c:formatCode>
                <c:ptCount val="4"/>
                <c:pt idx="0">
                  <c:v>2531</c:v>
                </c:pt>
                <c:pt idx="1">
                  <c:v>2572</c:v>
                </c:pt>
                <c:pt idx="2">
                  <c:v>2492</c:v>
                </c:pt>
                <c:pt idx="3">
                  <c:v>2405</c:v>
                </c:pt>
              </c:numCache>
            </c:numRef>
          </c:val>
          <c:extLst>
            <c:ext xmlns:c16="http://schemas.microsoft.com/office/drawing/2014/chart" uri="{C3380CC4-5D6E-409C-BE32-E72D297353CC}">
              <c16:uniqueId val="{00000008-F14C-4BB0-ABEE-01C109435C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6F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Total Visits by Year</a:t>
            </a:r>
          </a:p>
        </c:rich>
      </c:tx>
      <c:overlay val="0"/>
    </c:title>
    <c:autoTitleDeleted val="0"/>
    <c:plotArea>
      <c:layout/>
      <c:barChart>
        <c:barDir val="col"/>
        <c:grouping val="clustered"/>
        <c:varyColors val="0"/>
        <c:ser>
          <c:idx val="0"/>
          <c:order val="0"/>
          <c:tx>
            <c:strRef>
              <c:f>Sheet1!$B$1</c:f>
              <c:strCache>
                <c:ptCount val="1"/>
                <c:pt idx="0">
                  <c:v>Visits</c:v>
                </c:pt>
              </c:strCache>
            </c:strRef>
          </c:tx>
          <c:spPr>
            <a:solidFill>
              <a:srgbClr val="00A896"/>
            </a:solidFill>
            <a:effectLst/>
          </c:spPr>
          <c:invertIfNegative val="0"/>
          <c:dPt>
            <c:idx val="0"/>
            <c:invertIfNegative val="0"/>
            <c:bubble3D val="0"/>
            <c:extLst>
              <c:ext xmlns:c16="http://schemas.microsoft.com/office/drawing/2014/chart" uri="{C3380CC4-5D6E-409C-BE32-E72D297353CC}">
                <c16:uniqueId val="{00000001-284D-4663-ACAF-DA502F6378EE}"/>
              </c:ext>
            </c:extLst>
          </c:dPt>
          <c:dPt>
            <c:idx val="1"/>
            <c:invertIfNegative val="0"/>
            <c:bubble3D val="0"/>
            <c:spPr>
              <a:solidFill>
                <a:srgbClr val="028090"/>
              </a:solidFill>
              <a:effectLst/>
            </c:spPr>
            <c:extLst>
              <c:ext xmlns:c16="http://schemas.microsoft.com/office/drawing/2014/chart" uri="{C3380CC4-5D6E-409C-BE32-E72D297353CC}">
                <c16:uniqueId val="{00000003-284D-4663-ACAF-DA502F6378EE}"/>
              </c:ext>
            </c:extLst>
          </c:dPt>
          <c:dPt>
            <c:idx val="2"/>
            <c:invertIfNegative val="0"/>
            <c:bubble3D val="0"/>
            <c:spPr>
              <a:solidFill>
                <a:srgbClr val="02C39A"/>
              </a:solidFill>
              <a:effectLst/>
            </c:spPr>
            <c:extLst>
              <c:ext xmlns:c16="http://schemas.microsoft.com/office/drawing/2014/chart" uri="{C3380CC4-5D6E-409C-BE32-E72D297353CC}">
                <c16:uniqueId val="{00000005-284D-4663-ACAF-DA502F6378EE}"/>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3966</c:v>
                </c:pt>
                <c:pt idx="1">
                  <c:v>4927</c:v>
                </c:pt>
                <c:pt idx="2">
                  <c:v>1107</c:v>
                </c:pt>
              </c:numCache>
            </c:numRef>
          </c:val>
          <c:extLst>
            <c:ext xmlns:c16="http://schemas.microsoft.com/office/drawing/2014/chart" uri="{C3380CC4-5D6E-409C-BE32-E72D297353CC}">
              <c16:uniqueId val="{00000006-284D-4663-ACAF-DA502F6378E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6F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Visit Type Distribution</a:t>
            </a:r>
          </a:p>
        </c:rich>
      </c:tx>
      <c:overlay val="0"/>
    </c:title>
    <c:autoTitleDeleted val="0"/>
    <c:plotArea>
      <c:layout/>
      <c:pieChart>
        <c:varyColors val="1"/>
        <c:ser>
          <c:idx val="0"/>
          <c:order val="0"/>
          <c:tx>
            <c:strRef>
              <c:f>Sheet1!$B$1</c:f>
              <c:strCache>
                <c:ptCount val="1"/>
                <c:pt idx="0">
                  <c:v>Visit Type</c:v>
                </c:pt>
              </c:strCache>
            </c:strRef>
          </c:tx>
          <c:spPr>
            <a:solidFill>
              <a:schemeClr val="accent1"/>
            </a:solidFill>
            <a:ln w="9525" cap="flat">
              <a:solidFill>
                <a:srgbClr val="F9F9F9"/>
              </a:solidFill>
              <a:prstDash val="solid"/>
              <a:round/>
            </a:ln>
            <a:effectLst/>
          </c:spPr>
          <c:dPt>
            <c:idx val="0"/>
            <c:bubble3D val="0"/>
            <c:spPr>
              <a:solidFill>
                <a:srgbClr val="0A2342"/>
              </a:solidFill>
              <a:effectLst/>
            </c:spPr>
            <c:extLst>
              <c:ext xmlns:c16="http://schemas.microsoft.com/office/drawing/2014/chart" uri="{C3380CC4-5D6E-409C-BE32-E72D297353CC}">
                <c16:uniqueId val="{00000001-C8B3-485F-90BD-0782EE3C4A52}"/>
              </c:ext>
            </c:extLst>
          </c:dPt>
          <c:dPt>
            <c:idx val="1"/>
            <c:bubble3D val="0"/>
            <c:spPr>
              <a:solidFill>
                <a:srgbClr val="028090"/>
              </a:solidFill>
              <a:effectLst/>
            </c:spPr>
            <c:extLst>
              <c:ext xmlns:c16="http://schemas.microsoft.com/office/drawing/2014/chart" uri="{C3380CC4-5D6E-409C-BE32-E72D297353CC}">
                <c16:uniqueId val="{00000003-C8B3-485F-90BD-0782EE3C4A52}"/>
              </c:ext>
            </c:extLst>
          </c:dPt>
          <c:dPt>
            <c:idx val="2"/>
            <c:bubble3D val="0"/>
            <c:spPr>
              <a:solidFill>
                <a:srgbClr val="02C39A"/>
              </a:solidFill>
              <a:effectLst/>
            </c:spPr>
            <c:extLst>
              <c:ext xmlns:c16="http://schemas.microsoft.com/office/drawing/2014/chart" uri="{C3380CC4-5D6E-409C-BE32-E72D297353CC}">
                <c16:uniqueId val="{00000005-C8B3-485F-90BD-0782EE3C4A52}"/>
              </c:ext>
            </c:extLst>
          </c:dPt>
          <c:dPt>
            <c:idx val="3"/>
            <c:bubble3D val="0"/>
            <c:spPr>
              <a:solidFill>
                <a:srgbClr val="F4A261"/>
              </a:solidFill>
              <a:effectLst/>
            </c:spPr>
            <c:extLst>
              <c:ext xmlns:c16="http://schemas.microsoft.com/office/drawing/2014/chart" uri="{C3380CC4-5D6E-409C-BE32-E72D297353CC}">
                <c16:uniqueId val="{00000007-C8B3-485F-90BD-0782EE3C4A52}"/>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8B3-485F-90BD-0782EE3C4A52}"/>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8B3-485F-90BD-0782EE3C4A52}"/>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8B3-485F-90BD-0782EE3C4A52}"/>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8B3-485F-90BD-0782EE3C4A5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Specialist Consult.</c:v>
                </c:pt>
                <c:pt idx="1">
                  <c:v>Follow-up</c:v>
                </c:pt>
                <c:pt idx="2">
                  <c:v>Routine Checkup</c:v>
                </c:pt>
                <c:pt idx="3">
                  <c:v>Emergency</c:v>
                </c:pt>
              </c:strCache>
            </c:strRef>
          </c:cat>
          <c:val>
            <c:numRef>
              <c:f>Sheet1!$B$2:$B$5</c:f>
              <c:numCache>
                <c:formatCode>General</c:formatCode>
                <c:ptCount val="4"/>
                <c:pt idx="0">
                  <c:v>2559</c:v>
                </c:pt>
                <c:pt idx="1">
                  <c:v>2521</c:v>
                </c:pt>
                <c:pt idx="2">
                  <c:v>2482</c:v>
                </c:pt>
                <c:pt idx="3">
                  <c:v>2438</c:v>
                </c:pt>
              </c:numCache>
            </c:numRef>
          </c:val>
          <c:extLst>
            <c:ext xmlns:c16="http://schemas.microsoft.com/office/drawing/2014/chart" uri="{C3380CC4-5D6E-409C-BE32-E72D297353CC}">
              <c16:uniqueId val="{00000008-C8B3-485F-90BD-0782EE3C4A52}"/>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900"/>
          </a:pPr>
          <a:endParaRPr lang="en-US"/>
        </a:p>
      </c:txPr>
    </c:legend>
    <c:plotVisOnly val="1"/>
    <c:dispBlanksAs val="span"/>
    <c:showDLblsOverMax val="1"/>
  </c:chart>
  <c:spPr>
    <a:solidFill>
      <a:srgbClr val="F0F6F8"/>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Top Visit Diagnoses</a:t>
            </a:r>
          </a:p>
        </c:rich>
      </c:tx>
      <c:overlay val="0"/>
    </c:title>
    <c:autoTitleDeleted val="0"/>
    <c:plotArea>
      <c:layout/>
      <c:barChart>
        <c:barDir val="bar"/>
        <c:grouping val="clustered"/>
        <c:varyColors val="0"/>
        <c:ser>
          <c:idx val="0"/>
          <c:order val="0"/>
          <c:tx>
            <c:strRef>
              <c:f>Sheet1!$B$1</c:f>
              <c:strCache>
                <c:ptCount val="1"/>
                <c:pt idx="0">
                  <c:v>Visit Diagnoses</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F123-4A1A-9EC1-50F907BC9734}"/>
              </c:ext>
            </c:extLst>
          </c:dPt>
          <c:dPt>
            <c:idx val="1"/>
            <c:invertIfNegative val="0"/>
            <c:bubble3D val="0"/>
            <c:spPr>
              <a:solidFill>
                <a:srgbClr val="02C39A"/>
              </a:solidFill>
              <a:effectLst/>
            </c:spPr>
            <c:extLst>
              <c:ext xmlns:c16="http://schemas.microsoft.com/office/drawing/2014/chart" uri="{C3380CC4-5D6E-409C-BE32-E72D297353CC}">
                <c16:uniqueId val="{00000003-F123-4A1A-9EC1-50F907BC9734}"/>
              </c:ext>
            </c:extLst>
          </c:dPt>
          <c:dPt>
            <c:idx val="2"/>
            <c:invertIfNegative val="0"/>
            <c:bubble3D val="0"/>
            <c:spPr>
              <a:solidFill>
                <a:srgbClr val="00A896"/>
              </a:solidFill>
              <a:effectLst/>
            </c:spPr>
            <c:extLst>
              <c:ext xmlns:c16="http://schemas.microsoft.com/office/drawing/2014/chart" uri="{C3380CC4-5D6E-409C-BE32-E72D297353CC}">
                <c16:uniqueId val="{00000005-F123-4A1A-9EC1-50F907BC9734}"/>
              </c:ext>
            </c:extLst>
          </c:dPt>
          <c:dPt>
            <c:idx val="3"/>
            <c:invertIfNegative val="0"/>
            <c:bubble3D val="0"/>
            <c:spPr>
              <a:solidFill>
                <a:srgbClr val="0A2342"/>
              </a:solidFill>
              <a:effectLst/>
            </c:spPr>
            <c:extLst>
              <c:ext xmlns:c16="http://schemas.microsoft.com/office/drawing/2014/chart" uri="{C3380CC4-5D6E-409C-BE32-E72D297353CC}">
                <c16:uniqueId val="{00000007-F123-4A1A-9EC1-50F907BC9734}"/>
              </c:ext>
            </c:extLst>
          </c:dPt>
          <c:dPt>
            <c:idx val="4"/>
            <c:invertIfNegative val="0"/>
            <c:bubble3D val="0"/>
            <c:spPr>
              <a:solidFill>
                <a:srgbClr val="F4A261"/>
              </a:solidFill>
              <a:effectLst/>
            </c:spPr>
            <c:extLst>
              <c:ext xmlns:c16="http://schemas.microsoft.com/office/drawing/2014/chart" uri="{C3380CC4-5D6E-409C-BE32-E72D297353CC}">
                <c16:uniqueId val="{00000009-F123-4A1A-9EC1-50F907BC9734}"/>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Diabetes</c:v>
                </c:pt>
                <c:pt idx="1">
                  <c:v>Healthy</c:v>
                </c:pt>
                <c:pt idx="2">
                  <c:v>Asthma</c:v>
                </c:pt>
                <c:pt idx="3">
                  <c:v>Hypertension</c:v>
                </c:pt>
                <c:pt idx="4">
                  <c:v>Migraine</c:v>
                </c:pt>
              </c:strCache>
            </c:strRef>
          </c:cat>
          <c:val>
            <c:numRef>
              <c:f>Sheet1!$B$2:$B$6</c:f>
              <c:numCache>
                <c:formatCode>General</c:formatCode>
                <c:ptCount val="5"/>
                <c:pt idx="0">
                  <c:v>1960</c:v>
                </c:pt>
                <c:pt idx="1">
                  <c:v>1981</c:v>
                </c:pt>
                <c:pt idx="2">
                  <c:v>2009</c:v>
                </c:pt>
                <c:pt idx="3">
                  <c:v>2011</c:v>
                </c:pt>
                <c:pt idx="4">
                  <c:v>2039</c:v>
                </c:pt>
              </c:numCache>
            </c:numRef>
          </c:val>
          <c:extLst>
            <c:ext xmlns:c16="http://schemas.microsoft.com/office/drawing/2014/chart" uri="{C3380CC4-5D6E-409C-BE32-E72D297353CC}">
              <c16:uniqueId val="{0000000A-F123-4A1A-9EC1-50F907BC973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6F8"/>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Treatment Type Breakdown</a:t>
            </a:r>
          </a:p>
        </c:rich>
      </c:tx>
      <c:overlay val="0"/>
    </c:title>
    <c:autoTitleDeleted val="0"/>
    <c:plotArea>
      <c:layout/>
      <c:pieChart>
        <c:varyColors val="1"/>
        <c:ser>
          <c:idx val="0"/>
          <c:order val="0"/>
          <c:tx>
            <c:strRef>
              <c:f>Sheet1!$B$1</c:f>
              <c:strCache>
                <c:ptCount val="1"/>
                <c:pt idx="0">
                  <c:v>Treatment Types</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extLst>
              <c:ext xmlns:c16="http://schemas.microsoft.com/office/drawing/2014/chart" uri="{C3380CC4-5D6E-409C-BE32-E72D297353CC}">
                <c16:uniqueId val="{00000001-ABFB-4BFD-AE2B-C3662D50AE1F}"/>
              </c:ext>
            </c:extLst>
          </c:dPt>
          <c:dPt>
            <c:idx val="1"/>
            <c:bubble3D val="0"/>
            <c:spPr>
              <a:solidFill>
                <a:srgbClr val="0A2342"/>
              </a:solidFill>
              <a:effectLst/>
            </c:spPr>
            <c:extLst>
              <c:ext xmlns:c16="http://schemas.microsoft.com/office/drawing/2014/chart" uri="{C3380CC4-5D6E-409C-BE32-E72D297353CC}">
                <c16:uniqueId val="{00000003-ABFB-4BFD-AE2B-C3662D50AE1F}"/>
              </c:ext>
            </c:extLst>
          </c:dPt>
          <c:dPt>
            <c:idx val="2"/>
            <c:bubble3D val="0"/>
            <c:spPr>
              <a:solidFill>
                <a:srgbClr val="F4A261"/>
              </a:solidFill>
              <a:effectLst/>
            </c:spPr>
            <c:extLst>
              <c:ext xmlns:c16="http://schemas.microsoft.com/office/drawing/2014/chart" uri="{C3380CC4-5D6E-409C-BE32-E72D297353CC}">
                <c16:uniqueId val="{00000005-ABFB-4BFD-AE2B-C3662D50AE1F}"/>
              </c:ext>
            </c:extLst>
          </c:dPt>
          <c:dPt>
            <c:idx val="3"/>
            <c:bubble3D val="0"/>
            <c:spPr>
              <a:solidFill>
                <a:srgbClr val="02C39A"/>
              </a:solidFill>
              <a:effectLst/>
            </c:spPr>
            <c:extLst>
              <c:ext xmlns:c16="http://schemas.microsoft.com/office/drawing/2014/chart" uri="{C3380CC4-5D6E-409C-BE32-E72D297353CC}">
                <c16:uniqueId val="{00000007-ABFB-4BFD-AE2B-C3662D50AE1F}"/>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BFB-4BFD-AE2B-C3662D50AE1F}"/>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BFB-4BFD-AE2B-C3662D50AE1F}"/>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BFB-4BFD-AE2B-C3662D50AE1F}"/>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BFB-4BFD-AE2B-C3662D50AE1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Vaccination</c:v>
                </c:pt>
                <c:pt idx="1">
                  <c:v>Medication</c:v>
                </c:pt>
                <c:pt idx="2">
                  <c:v>Surgery</c:v>
                </c:pt>
                <c:pt idx="3">
                  <c:v>Physical Therapy</c:v>
                </c:pt>
              </c:strCache>
            </c:strRef>
          </c:cat>
          <c:val>
            <c:numRef>
              <c:f>Sheet1!$B$2:$B$5</c:f>
              <c:numCache>
                <c:formatCode>General</c:formatCode>
                <c:ptCount val="4"/>
                <c:pt idx="0">
                  <c:v>2567</c:v>
                </c:pt>
                <c:pt idx="1">
                  <c:v>2504</c:v>
                </c:pt>
                <c:pt idx="2">
                  <c:v>2502</c:v>
                </c:pt>
                <c:pt idx="3">
                  <c:v>2427</c:v>
                </c:pt>
              </c:numCache>
            </c:numRef>
          </c:val>
          <c:extLst>
            <c:ext xmlns:c16="http://schemas.microsoft.com/office/drawing/2014/chart" uri="{C3380CC4-5D6E-409C-BE32-E72D297353CC}">
              <c16:uniqueId val="{00000008-ABFB-4BFD-AE2B-C3662D50AE1F}"/>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0F6F8"/>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Treatment Outcomes</a:t>
            </a:r>
          </a:p>
        </c:rich>
      </c:tx>
      <c:overlay val="0"/>
    </c:title>
    <c:autoTitleDeleted val="0"/>
    <c:plotArea>
      <c:layout/>
      <c:barChart>
        <c:barDir val="col"/>
        <c:grouping val="clustered"/>
        <c:varyColors val="0"/>
        <c:ser>
          <c:idx val="0"/>
          <c:order val="0"/>
          <c:tx>
            <c:strRef>
              <c:f>Sheet1!$B$1</c:f>
              <c:strCache>
                <c:ptCount val="1"/>
                <c:pt idx="0">
                  <c:v>Outcomes</c:v>
                </c:pt>
              </c:strCache>
            </c:strRef>
          </c:tx>
          <c:spPr>
            <a:solidFill>
              <a:srgbClr val="F4A261"/>
            </a:solidFill>
            <a:effectLst/>
          </c:spPr>
          <c:invertIfNegative val="0"/>
          <c:dPt>
            <c:idx val="0"/>
            <c:invertIfNegative val="0"/>
            <c:bubble3D val="0"/>
            <c:extLst>
              <c:ext xmlns:c16="http://schemas.microsoft.com/office/drawing/2014/chart" uri="{C3380CC4-5D6E-409C-BE32-E72D297353CC}">
                <c16:uniqueId val="{00000001-DCC1-4F9D-BF2C-CE355FECB2B2}"/>
              </c:ext>
            </c:extLst>
          </c:dPt>
          <c:dPt>
            <c:idx val="1"/>
            <c:invertIfNegative val="0"/>
            <c:bubble3D val="0"/>
            <c:spPr>
              <a:solidFill>
                <a:srgbClr val="E63946"/>
              </a:solidFill>
              <a:effectLst/>
            </c:spPr>
            <c:extLst>
              <c:ext xmlns:c16="http://schemas.microsoft.com/office/drawing/2014/chart" uri="{C3380CC4-5D6E-409C-BE32-E72D297353CC}">
                <c16:uniqueId val="{00000003-DCC1-4F9D-BF2C-CE355FECB2B2}"/>
              </c:ext>
            </c:extLst>
          </c:dPt>
          <c:dPt>
            <c:idx val="2"/>
            <c:invertIfNegative val="0"/>
            <c:bubble3D val="0"/>
            <c:spPr>
              <a:solidFill>
                <a:srgbClr val="2DC653"/>
              </a:solidFill>
              <a:effectLst/>
            </c:spPr>
            <c:extLst>
              <c:ext xmlns:c16="http://schemas.microsoft.com/office/drawing/2014/chart" uri="{C3380CC4-5D6E-409C-BE32-E72D297353CC}">
                <c16:uniqueId val="{00000005-DCC1-4F9D-BF2C-CE355FECB2B2}"/>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Ongoing</c:v>
                </c:pt>
                <c:pt idx="1">
                  <c:v>Failed</c:v>
                </c:pt>
                <c:pt idx="2">
                  <c:v>Successful</c:v>
                </c:pt>
              </c:strCache>
            </c:strRef>
          </c:cat>
          <c:val>
            <c:numRef>
              <c:f>Sheet1!$B$2:$B$4</c:f>
              <c:numCache>
                <c:formatCode>General</c:formatCode>
                <c:ptCount val="3"/>
                <c:pt idx="0">
                  <c:v>3351</c:v>
                </c:pt>
                <c:pt idx="1">
                  <c:v>3348</c:v>
                </c:pt>
                <c:pt idx="2">
                  <c:v>3301</c:v>
                </c:pt>
              </c:numCache>
            </c:numRef>
          </c:val>
          <c:extLst>
            <c:ext xmlns:c16="http://schemas.microsoft.com/office/drawing/2014/chart" uri="{C3380CC4-5D6E-409C-BE32-E72D297353CC}">
              <c16:uniqueId val="{00000006-DCC1-4F9D-BF2C-CE355FECB2B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6F8"/>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Lab Test Results</a:t>
            </a:r>
          </a:p>
        </c:rich>
      </c:tx>
      <c:overlay val="0"/>
    </c:title>
    <c:autoTitleDeleted val="0"/>
    <c:plotArea>
      <c:layout/>
      <c:doughnutChart>
        <c:varyColors val="1"/>
        <c:ser>
          <c:idx val="0"/>
          <c:order val="0"/>
          <c:tx>
            <c:strRef>
              <c:f>Sheet1!$B$1</c:f>
              <c:strCache>
                <c:ptCount val="1"/>
                <c:pt idx="0">
                  <c:v>Test Results</c:v>
                </c:pt>
              </c:strCache>
            </c:strRef>
          </c:tx>
          <c:spPr>
            <a:solidFill>
              <a:schemeClr val="accent1"/>
            </a:solidFill>
            <a:ln w="9525" cap="flat">
              <a:solidFill>
                <a:srgbClr val="F9F9F9"/>
              </a:solidFill>
              <a:prstDash val="solid"/>
              <a:round/>
            </a:ln>
            <a:effectLst/>
          </c:spPr>
          <c:dPt>
            <c:idx val="0"/>
            <c:bubble3D val="0"/>
            <c:spPr>
              <a:solidFill>
                <a:srgbClr val="E63946"/>
              </a:solidFill>
              <a:effectLst/>
            </c:spPr>
            <c:extLst>
              <c:ext xmlns:c16="http://schemas.microsoft.com/office/drawing/2014/chart" uri="{C3380CC4-5D6E-409C-BE32-E72D297353CC}">
                <c16:uniqueId val="{00000001-908C-4412-8646-996FB726089C}"/>
              </c:ext>
            </c:extLst>
          </c:dPt>
          <c:dPt>
            <c:idx val="1"/>
            <c:bubble3D val="0"/>
            <c:spPr>
              <a:solidFill>
                <a:srgbClr val="F4A261"/>
              </a:solidFill>
              <a:effectLst/>
            </c:spPr>
            <c:extLst>
              <c:ext xmlns:c16="http://schemas.microsoft.com/office/drawing/2014/chart" uri="{C3380CC4-5D6E-409C-BE32-E72D297353CC}">
                <c16:uniqueId val="{00000003-908C-4412-8646-996FB726089C}"/>
              </c:ext>
            </c:extLst>
          </c:dPt>
          <c:dPt>
            <c:idx val="2"/>
            <c:bubble3D val="0"/>
            <c:spPr>
              <a:solidFill>
                <a:srgbClr val="2DC653"/>
              </a:solidFill>
              <a:effectLst/>
            </c:spPr>
            <c:extLst>
              <c:ext xmlns:c16="http://schemas.microsoft.com/office/drawing/2014/chart" uri="{C3380CC4-5D6E-409C-BE32-E72D297353CC}">
                <c16:uniqueId val="{00000005-908C-4412-8646-996FB726089C}"/>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08C-4412-8646-996FB726089C}"/>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08C-4412-8646-996FB726089C}"/>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08C-4412-8646-996FB726089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Abnormal</c:v>
                </c:pt>
                <c:pt idx="1">
                  <c:v>Pending</c:v>
                </c:pt>
                <c:pt idx="2">
                  <c:v>Normal</c:v>
                </c:pt>
              </c:strCache>
            </c:strRef>
          </c:cat>
          <c:val>
            <c:numRef>
              <c:f>Sheet1!$B$2:$B$4</c:f>
              <c:numCache>
                <c:formatCode>General</c:formatCode>
                <c:ptCount val="3"/>
                <c:pt idx="0">
                  <c:v>3354</c:v>
                </c:pt>
                <c:pt idx="1">
                  <c:v>3344</c:v>
                </c:pt>
                <c:pt idx="2">
                  <c:v>3302</c:v>
                </c:pt>
              </c:numCache>
            </c:numRef>
          </c:val>
          <c:extLst>
            <c:ext xmlns:c16="http://schemas.microsoft.com/office/drawing/2014/chart" uri="{C3380CC4-5D6E-409C-BE32-E72D297353CC}">
              <c16:uniqueId val="{00000006-908C-4412-8646-996FB726089C}"/>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0F6F8"/>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342"/>
                </a:solidFill>
                <a:latin typeface="Arial"/>
              </a:defRPr>
            </a:pPr>
            <a:r>
              <a:rPr lang="en-IN" sz="1300" b="0" i="0" u="none" strike="noStrike">
                <a:solidFill>
                  <a:srgbClr val="0A2342"/>
                </a:solidFill>
                <a:latin typeface="Arial"/>
              </a:rPr>
              <a:t>Doctor Specialties</a:t>
            </a:r>
          </a:p>
        </c:rich>
      </c:tx>
      <c:overlay val="0"/>
    </c:title>
    <c:autoTitleDeleted val="0"/>
    <c:plotArea>
      <c:layout/>
      <c:barChart>
        <c:barDir val="bar"/>
        <c:grouping val="clustered"/>
        <c:varyColors val="0"/>
        <c:ser>
          <c:idx val="0"/>
          <c:order val="0"/>
          <c:tx>
            <c:strRef>
              <c:f>Sheet1!$B$1</c:f>
              <c:strCache>
                <c:ptCount val="1"/>
                <c:pt idx="0">
                  <c:v>Doctors</c:v>
                </c:pt>
              </c:strCache>
            </c:strRef>
          </c:tx>
          <c:spPr>
            <a:solidFill>
              <a:srgbClr val="0A2342"/>
            </a:solidFill>
            <a:effectLst/>
          </c:spPr>
          <c:invertIfNegative val="0"/>
          <c:dPt>
            <c:idx val="0"/>
            <c:invertIfNegative val="0"/>
            <c:bubble3D val="0"/>
            <c:extLst>
              <c:ext xmlns:c16="http://schemas.microsoft.com/office/drawing/2014/chart" uri="{C3380CC4-5D6E-409C-BE32-E72D297353CC}">
                <c16:uniqueId val="{00000001-3390-46DF-B556-BAD0B9289899}"/>
              </c:ext>
            </c:extLst>
          </c:dPt>
          <c:dPt>
            <c:idx val="1"/>
            <c:invertIfNegative val="0"/>
            <c:bubble3D val="0"/>
            <c:spPr>
              <a:solidFill>
                <a:srgbClr val="00A896"/>
              </a:solidFill>
              <a:effectLst/>
            </c:spPr>
            <c:extLst>
              <c:ext xmlns:c16="http://schemas.microsoft.com/office/drawing/2014/chart" uri="{C3380CC4-5D6E-409C-BE32-E72D297353CC}">
                <c16:uniqueId val="{00000003-3390-46DF-B556-BAD0B9289899}"/>
              </c:ext>
            </c:extLst>
          </c:dPt>
          <c:dPt>
            <c:idx val="2"/>
            <c:invertIfNegative val="0"/>
            <c:bubble3D val="0"/>
            <c:spPr>
              <a:solidFill>
                <a:srgbClr val="02C39A"/>
              </a:solidFill>
              <a:effectLst/>
            </c:spPr>
            <c:extLst>
              <c:ext xmlns:c16="http://schemas.microsoft.com/office/drawing/2014/chart" uri="{C3380CC4-5D6E-409C-BE32-E72D297353CC}">
                <c16:uniqueId val="{00000005-3390-46DF-B556-BAD0B9289899}"/>
              </c:ext>
            </c:extLst>
          </c:dPt>
          <c:dPt>
            <c:idx val="3"/>
            <c:invertIfNegative val="0"/>
            <c:bubble3D val="0"/>
            <c:spPr>
              <a:solidFill>
                <a:srgbClr val="028090"/>
              </a:solidFill>
              <a:effectLst/>
            </c:spPr>
            <c:extLst>
              <c:ext xmlns:c16="http://schemas.microsoft.com/office/drawing/2014/chart" uri="{C3380CC4-5D6E-409C-BE32-E72D297353CC}">
                <c16:uniqueId val="{00000007-3390-46DF-B556-BAD0B9289899}"/>
              </c:ext>
            </c:extLst>
          </c:dPt>
          <c:dPt>
            <c:idx val="4"/>
            <c:invertIfNegative val="0"/>
            <c:bubble3D val="0"/>
            <c:spPr>
              <a:solidFill>
                <a:srgbClr val="F4A261"/>
              </a:solidFill>
              <a:effectLst/>
            </c:spPr>
            <c:extLst>
              <c:ext xmlns:c16="http://schemas.microsoft.com/office/drawing/2014/chart" uri="{C3380CC4-5D6E-409C-BE32-E72D297353CC}">
                <c16:uniqueId val="{00000009-3390-46DF-B556-BAD0B9289899}"/>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Neurology</c:v>
                </c:pt>
                <c:pt idx="1">
                  <c:v>Orthopedics</c:v>
                </c:pt>
                <c:pt idx="2">
                  <c:v>Pediatrics</c:v>
                </c:pt>
                <c:pt idx="3">
                  <c:v>Cardiology</c:v>
                </c:pt>
                <c:pt idx="4">
                  <c:v>General Medicine</c:v>
                </c:pt>
              </c:strCache>
            </c:strRef>
          </c:cat>
          <c:val>
            <c:numRef>
              <c:f>Sheet1!$B$2:$B$6</c:f>
              <c:numCache>
                <c:formatCode>General</c:formatCode>
                <c:ptCount val="5"/>
                <c:pt idx="0">
                  <c:v>186</c:v>
                </c:pt>
                <c:pt idx="1">
                  <c:v>190</c:v>
                </c:pt>
                <c:pt idx="2">
                  <c:v>204</c:v>
                </c:pt>
                <c:pt idx="3">
                  <c:v>208</c:v>
                </c:pt>
                <c:pt idx="4">
                  <c:v>212</c:v>
                </c:pt>
              </c:numCache>
            </c:numRef>
          </c:val>
          <c:extLst>
            <c:ext xmlns:c16="http://schemas.microsoft.com/office/drawing/2014/chart" uri="{C3380CC4-5D6E-409C-BE32-E72D297353CC}">
              <c16:uniqueId val="{0000000A-3390-46DF-B556-BAD0B928989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6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5579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D046-9040-FDE3-4BAB-1E13BC4C4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89932-20B8-7458-6702-4BBE6D41AA9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C2BAC72-E474-BF42-F664-A42789B86D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190CCE-4062-17EE-C4D5-B50E82EDE90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6389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A9E01-E616-56DE-503B-8AD2AE0D7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C35C1-A4EF-4044-2304-C47F75038D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E6F439F-7CCA-9543-72B1-BD26D4FC41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566378-FAB5-D727-A93C-DF333D73040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63831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4A6B3-B920-2C95-21D9-088FFE29B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DFF7E-AAA6-0DBA-2EDF-CBB2C655768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BAB849-EB3C-2461-35A0-19D533103D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7B0C1B-7E8C-88FF-C60F-0D9AAAF409C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9408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03EC1-C218-0EDF-804F-B16205F78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82AEA-1DD1-9FE7-E16E-998A439C53E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F81F282-6090-51C4-E4F4-AD65B6BB4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531392-0113-A80B-B435-D101184BC7D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7961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C169-9B87-D35C-1137-B10BD13B9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11009-6BBD-32FE-565D-8F21F654862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0714B56-A779-8DFC-3E89-CDCF16D30E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E590EA-BC62-68FF-EC76-FFC7F77BB5F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51913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D58F2-0C6B-05AC-72D8-6FC1AC5B9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9BEA0-CA5D-800D-C50F-3F3A4AEA43F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F3396CE-52C4-F24D-CB1A-BB17E93E67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C11AD8-B85A-682E-2677-82E7474343B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991848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2B6F5-D124-C1FF-EE61-B39567EEB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C13C8-09EB-C124-B466-F586742FEA4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8FB7941-2B3A-24CE-45CC-E714CF02DB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3B49E-AFED-5672-70C3-5F5D0DC4A993}"/>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51344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55270C-20F4-1A11-CA05-8A2F543061CF}"/>
              </a:ext>
            </a:extLst>
          </p:cNvPr>
          <p:cNvPicPr>
            <a:picLocks noChangeAspect="1"/>
          </p:cNvPicPr>
          <p:nvPr/>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032721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txBody>
          <a:bodyPr/>
          <a:lstStyle/>
          <a:p>
            <a:endParaRPr lang="en-IN"/>
          </a:p>
        </p:txBody>
      </p:sp>
      <p:sp>
        <p:nvSpPr>
          <p:cNvPr id="3" name="Shape 1"/>
          <p:cNvSpPr/>
          <p:nvPr/>
        </p:nvSpPr>
        <p:spPr>
          <a:xfrm>
            <a:off x="7772400" y="0"/>
            <a:ext cx="1371600" cy="1097280"/>
          </a:xfrm>
          <a:prstGeom prst="rect">
            <a:avLst/>
          </a:prstGeom>
          <a:solidFill>
            <a:srgbClr val="028090">
              <a:alpha val="30000"/>
            </a:srgbClr>
          </a:solidFill>
          <a:ln w="12700">
            <a:solidFill>
              <a:srgbClr val="028090">
                <a:alpha val="30000"/>
              </a:srgbClr>
            </a:solidFill>
            <a:prstDash val="solid"/>
          </a:ln>
        </p:spPr>
        <p:txBody>
          <a:bodyPr/>
          <a:lstStyle/>
          <a:p>
            <a:endParaRPr lang="en-IN"/>
          </a:p>
        </p:txBody>
      </p:sp>
      <p:sp>
        <p:nvSpPr>
          <p:cNvPr id="4" name="Shape 2"/>
          <p:cNvSpPr/>
          <p:nvPr/>
        </p:nvSpPr>
        <p:spPr>
          <a:xfrm>
            <a:off x="0" y="4480560"/>
            <a:ext cx="9144000" cy="662940"/>
          </a:xfrm>
          <a:prstGeom prst="rect">
            <a:avLst/>
          </a:prstGeom>
          <a:solidFill>
            <a:srgbClr val="028090">
              <a:alpha val="40000"/>
            </a:srgbClr>
          </a:solidFill>
          <a:ln w="12700">
            <a:solidFill>
              <a:srgbClr val="028090">
                <a:alpha val="40000"/>
              </a:srgbClr>
            </a:solidFill>
            <a:prstDash val="solid"/>
          </a:ln>
        </p:spPr>
        <p:txBody>
          <a:bodyPr/>
          <a:lstStyle/>
          <a:p>
            <a:endParaRPr lang="en-IN"/>
          </a:p>
        </p:txBody>
      </p:sp>
      <p:sp>
        <p:nvSpPr>
          <p:cNvPr id="5" name="Text 3"/>
          <p:cNvSpPr/>
          <p:nvPr/>
        </p:nvSpPr>
        <p:spPr>
          <a:xfrm>
            <a:off x="457200" y="640080"/>
            <a:ext cx="8229600" cy="1005840"/>
          </a:xfrm>
          <a:prstGeom prst="rect">
            <a:avLst/>
          </a:prstGeom>
          <a:noFill/>
          <a:ln/>
        </p:spPr>
        <p:txBody>
          <a:bodyPr wrap="square" lIns="0" tIns="0" rIns="0" bIns="0" rtlCol="0" anchor="ctr"/>
          <a:lstStyle/>
          <a:p>
            <a:pPr marL="0" indent="0" algn="ctr">
              <a:buNone/>
            </a:pPr>
            <a:r>
              <a:rPr lang="en-US" sz="4800" b="1" dirty="0">
                <a:solidFill>
                  <a:srgbClr val="FFFFFF"/>
                </a:solidFill>
                <a:latin typeface="Trebuchet MS" pitchFamily="34" charset="0"/>
                <a:ea typeface="Trebuchet MS" pitchFamily="34" charset="-122"/>
                <a:cs typeface="Trebuchet MS" pitchFamily="34" charset="-120"/>
              </a:rPr>
              <a:t>Healthcare Patient</a:t>
            </a:r>
            <a:endParaRPr lang="en-US" sz="4800" dirty="0"/>
          </a:p>
        </p:txBody>
      </p:sp>
      <p:sp>
        <p:nvSpPr>
          <p:cNvPr id="6" name="Text 4"/>
          <p:cNvSpPr/>
          <p:nvPr/>
        </p:nvSpPr>
        <p:spPr>
          <a:xfrm>
            <a:off x="457200" y="1600200"/>
            <a:ext cx="8229600" cy="914400"/>
          </a:xfrm>
          <a:prstGeom prst="rect">
            <a:avLst/>
          </a:prstGeom>
          <a:noFill/>
          <a:ln/>
        </p:spPr>
        <p:txBody>
          <a:bodyPr wrap="square" lIns="0" tIns="0" rIns="0" bIns="0" rtlCol="0" anchor="ctr"/>
          <a:lstStyle/>
          <a:p>
            <a:pPr marL="0" indent="0" algn="ctr">
              <a:buNone/>
            </a:pPr>
            <a:r>
              <a:rPr lang="en-US" sz="4800" b="1" dirty="0">
                <a:solidFill>
                  <a:srgbClr val="02C39A"/>
                </a:solidFill>
                <a:latin typeface="Trebuchet MS" pitchFamily="34" charset="0"/>
                <a:ea typeface="Trebuchet MS" pitchFamily="34" charset="-122"/>
                <a:cs typeface="Trebuchet MS" pitchFamily="34" charset="-120"/>
              </a:rPr>
              <a:t>Data Analysis</a:t>
            </a:r>
            <a:endParaRPr lang="en-US" sz="4800" dirty="0"/>
          </a:p>
        </p:txBody>
      </p:sp>
      <p:sp>
        <p:nvSpPr>
          <p:cNvPr id="7" name="Text 5"/>
          <p:cNvSpPr/>
          <p:nvPr/>
        </p:nvSpPr>
        <p:spPr>
          <a:xfrm>
            <a:off x="457200" y="2606040"/>
            <a:ext cx="8229600" cy="45720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Comprehensive Insights from Patient, Visit, Treatment &amp; Lab Records</a:t>
            </a:r>
            <a:endParaRPr lang="en-US" sz="1600" dirty="0"/>
          </a:p>
        </p:txBody>
      </p:sp>
      <p:sp>
        <p:nvSpPr>
          <p:cNvPr id="8" name="Shape 6"/>
          <p:cNvSpPr/>
          <p:nvPr/>
        </p:nvSpPr>
        <p:spPr>
          <a:xfrm>
            <a:off x="548640" y="3337560"/>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a:p>
        </p:txBody>
      </p:sp>
      <p:sp>
        <p:nvSpPr>
          <p:cNvPr id="9" name="Text 7"/>
          <p:cNvSpPr/>
          <p:nvPr/>
        </p:nvSpPr>
        <p:spPr>
          <a:xfrm>
            <a:off x="548640" y="3392424"/>
            <a:ext cx="1828800" cy="384048"/>
          </a:xfrm>
          <a:prstGeom prst="rect">
            <a:avLst/>
          </a:prstGeom>
          <a:noFill/>
          <a:ln/>
        </p:spPr>
        <p:txBody>
          <a:bodyPr wrap="square" lIns="0" tIns="0" rIns="0" bIns="0" rtlCol="0" anchor="ctr"/>
          <a:lstStyle/>
          <a:p>
            <a:pPr marL="0" indent="0" algn="ctr">
              <a:buNone/>
            </a:pPr>
            <a:r>
              <a:rPr lang="en-US" sz="2000" b="1" dirty="0">
                <a:solidFill>
                  <a:srgbClr val="02C39A"/>
                </a:solidFill>
                <a:latin typeface="Trebuchet MS" pitchFamily="34" charset="0"/>
                <a:ea typeface="Trebuchet MS" pitchFamily="34" charset="-122"/>
                <a:cs typeface="Trebuchet MS" pitchFamily="34" charset="-120"/>
              </a:rPr>
              <a:t>10,000</a:t>
            </a:r>
            <a:endParaRPr lang="en-US" sz="2000" dirty="0"/>
          </a:p>
        </p:txBody>
      </p:sp>
      <p:sp>
        <p:nvSpPr>
          <p:cNvPr id="10" name="Text 8"/>
          <p:cNvSpPr/>
          <p:nvPr/>
        </p:nvSpPr>
        <p:spPr>
          <a:xfrm>
            <a:off x="548640" y="3758184"/>
            <a:ext cx="1828800" cy="256032"/>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Patients</a:t>
            </a:r>
            <a:endParaRPr lang="en-US" sz="1200" dirty="0"/>
          </a:p>
        </p:txBody>
      </p:sp>
      <p:sp>
        <p:nvSpPr>
          <p:cNvPr id="11" name="Shape 9"/>
          <p:cNvSpPr/>
          <p:nvPr/>
        </p:nvSpPr>
        <p:spPr>
          <a:xfrm>
            <a:off x="2560320" y="3337560"/>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a:p>
        </p:txBody>
      </p:sp>
      <p:sp>
        <p:nvSpPr>
          <p:cNvPr id="12" name="Text 10"/>
          <p:cNvSpPr/>
          <p:nvPr/>
        </p:nvSpPr>
        <p:spPr>
          <a:xfrm>
            <a:off x="2560320" y="3392424"/>
            <a:ext cx="1828800" cy="384048"/>
          </a:xfrm>
          <a:prstGeom prst="rect">
            <a:avLst/>
          </a:prstGeom>
          <a:noFill/>
          <a:ln/>
        </p:spPr>
        <p:txBody>
          <a:bodyPr wrap="square" lIns="0" tIns="0" rIns="0" bIns="0" rtlCol="0" anchor="ctr"/>
          <a:lstStyle/>
          <a:p>
            <a:pPr marL="0" indent="0" algn="ctr">
              <a:buNone/>
            </a:pPr>
            <a:r>
              <a:rPr lang="en-US" sz="2000" b="1" dirty="0">
                <a:solidFill>
                  <a:srgbClr val="02C39A"/>
                </a:solidFill>
                <a:latin typeface="Trebuchet MS" pitchFamily="34" charset="0"/>
                <a:ea typeface="Trebuchet MS" pitchFamily="34" charset="-122"/>
                <a:cs typeface="Trebuchet MS" pitchFamily="34" charset="-120"/>
              </a:rPr>
              <a:t>10,000</a:t>
            </a:r>
            <a:endParaRPr lang="en-US" sz="2000" dirty="0"/>
          </a:p>
        </p:txBody>
      </p:sp>
      <p:sp>
        <p:nvSpPr>
          <p:cNvPr id="13" name="Text 11"/>
          <p:cNvSpPr/>
          <p:nvPr/>
        </p:nvSpPr>
        <p:spPr>
          <a:xfrm>
            <a:off x="2560320" y="3758184"/>
            <a:ext cx="1828800" cy="256032"/>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Visits</a:t>
            </a:r>
            <a:endParaRPr lang="en-US" sz="1200" dirty="0"/>
          </a:p>
        </p:txBody>
      </p:sp>
      <p:sp>
        <p:nvSpPr>
          <p:cNvPr id="14" name="Shape 12"/>
          <p:cNvSpPr/>
          <p:nvPr/>
        </p:nvSpPr>
        <p:spPr>
          <a:xfrm>
            <a:off x="4572000" y="3337560"/>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a:p>
        </p:txBody>
      </p:sp>
      <p:sp>
        <p:nvSpPr>
          <p:cNvPr id="15" name="Text 13"/>
          <p:cNvSpPr/>
          <p:nvPr/>
        </p:nvSpPr>
        <p:spPr>
          <a:xfrm>
            <a:off x="4572000" y="3392424"/>
            <a:ext cx="1828800" cy="384048"/>
          </a:xfrm>
          <a:prstGeom prst="rect">
            <a:avLst/>
          </a:prstGeom>
          <a:noFill/>
          <a:ln/>
        </p:spPr>
        <p:txBody>
          <a:bodyPr wrap="square" lIns="0" tIns="0" rIns="0" bIns="0" rtlCol="0" anchor="ctr"/>
          <a:lstStyle/>
          <a:p>
            <a:pPr marL="0" indent="0" algn="ctr">
              <a:buNone/>
            </a:pPr>
            <a:r>
              <a:rPr lang="en-US" sz="2000" b="1" dirty="0">
                <a:solidFill>
                  <a:srgbClr val="02C39A"/>
                </a:solidFill>
                <a:latin typeface="Trebuchet MS" pitchFamily="34" charset="0"/>
                <a:ea typeface="Trebuchet MS" pitchFamily="34" charset="-122"/>
                <a:cs typeface="Trebuchet MS" pitchFamily="34" charset="-120"/>
              </a:rPr>
              <a:t>1,000</a:t>
            </a:r>
            <a:endParaRPr lang="en-US" sz="2000" dirty="0"/>
          </a:p>
        </p:txBody>
      </p:sp>
      <p:sp>
        <p:nvSpPr>
          <p:cNvPr id="16" name="Text 14"/>
          <p:cNvSpPr/>
          <p:nvPr/>
        </p:nvSpPr>
        <p:spPr>
          <a:xfrm>
            <a:off x="4572000" y="3758184"/>
            <a:ext cx="1828800" cy="256032"/>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Doctors</a:t>
            </a:r>
            <a:endParaRPr lang="en-US" sz="1200" dirty="0"/>
          </a:p>
        </p:txBody>
      </p:sp>
      <p:sp>
        <p:nvSpPr>
          <p:cNvPr id="17" name="Shape 15"/>
          <p:cNvSpPr/>
          <p:nvPr/>
        </p:nvSpPr>
        <p:spPr>
          <a:xfrm>
            <a:off x="6583680" y="3337560"/>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a:p>
        </p:txBody>
      </p:sp>
      <p:sp>
        <p:nvSpPr>
          <p:cNvPr id="18" name="Text 16"/>
          <p:cNvSpPr/>
          <p:nvPr/>
        </p:nvSpPr>
        <p:spPr>
          <a:xfrm>
            <a:off x="6583680" y="3392424"/>
            <a:ext cx="1828800" cy="384048"/>
          </a:xfrm>
          <a:prstGeom prst="rect">
            <a:avLst/>
          </a:prstGeom>
          <a:noFill/>
          <a:ln/>
        </p:spPr>
        <p:txBody>
          <a:bodyPr wrap="square" lIns="0" tIns="0" rIns="0" bIns="0" rtlCol="0" anchor="ctr"/>
          <a:lstStyle/>
          <a:p>
            <a:pPr marL="0" indent="0" algn="ctr">
              <a:buNone/>
            </a:pPr>
            <a:r>
              <a:rPr lang="en-US" sz="2000" b="1" dirty="0">
                <a:solidFill>
                  <a:srgbClr val="02C39A"/>
                </a:solidFill>
                <a:latin typeface="Trebuchet MS" pitchFamily="34" charset="0"/>
                <a:ea typeface="Trebuchet MS" pitchFamily="34" charset="-122"/>
                <a:cs typeface="Trebuchet MS" pitchFamily="34" charset="-120"/>
              </a:rPr>
              <a:t>3 Years</a:t>
            </a:r>
            <a:endParaRPr lang="en-US" sz="2000" dirty="0"/>
          </a:p>
        </p:txBody>
      </p:sp>
      <p:sp>
        <p:nvSpPr>
          <p:cNvPr id="19" name="Text 17"/>
          <p:cNvSpPr/>
          <p:nvPr/>
        </p:nvSpPr>
        <p:spPr>
          <a:xfrm>
            <a:off x="6583680" y="3758184"/>
            <a:ext cx="1828800" cy="256032"/>
          </a:xfrm>
          <a:prstGeom prst="rect">
            <a:avLst/>
          </a:prstGeom>
          <a:noFill/>
          <a:ln/>
        </p:spPr>
        <p:txBody>
          <a:bodyPr wrap="square" lIns="0" tIns="0" rIns="0" bIns="0"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Data Span</a:t>
            </a:r>
            <a:endParaRPr lang="en-US" sz="1200" dirty="0"/>
          </a:p>
        </p:txBody>
      </p:sp>
      <p:sp>
        <p:nvSpPr>
          <p:cNvPr id="20" name="Text 18"/>
          <p:cNvSpPr/>
          <p:nvPr/>
        </p:nvSpPr>
        <p:spPr>
          <a:xfrm>
            <a:off x="274320" y="4572000"/>
            <a:ext cx="8595360" cy="320040"/>
          </a:xfrm>
          <a:prstGeom prst="rect">
            <a:avLst/>
          </a:prstGeom>
          <a:noFill/>
          <a:ln/>
        </p:spPr>
        <p:txBody>
          <a:bodyPr wrap="square" lIns="0" tIns="0" rIns="0" bIns="0" rtlCol="0" anchor="ctr"/>
          <a:lstStyle/>
          <a:p>
            <a:pPr algn="ctr"/>
            <a:r>
              <a:rPr lang="en-US" sz="1000" i="1" dirty="0">
                <a:solidFill>
                  <a:srgbClr val="FFFFFF"/>
                </a:solidFill>
                <a:latin typeface="Calibri" pitchFamily="34" charset="0"/>
                <a:ea typeface="Calibri" pitchFamily="34" charset="-122"/>
                <a:cs typeface="Calibri" pitchFamily="34" charset="-120"/>
              </a:rPr>
              <a:t> Excel · Tableau · Power BI · SQL</a:t>
            </a:r>
            <a:endParaRPr lang="en-US" sz="10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1C7796DE-4D20-79D2-1B46-1732A2A75F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928569-BF1F-0C74-BDE3-0FBC85C3DE7B}"/>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B5E6635B-FAE2-AED2-1988-C7F59DAC84F8}"/>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E5F8FECE-70C3-245C-A1C3-6CB72EA1F769}"/>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Introduction</a:t>
            </a:r>
            <a:endParaRPr lang="en-US" sz="2600" dirty="0"/>
          </a:p>
        </p:txBody>
      </p:sp>
      <p:sp>
        <p:nvSpPr>
          <p:cNvPr id="21" name="Text 19">
            <a:extLst>
              <a:ext uri="{FF2B5EF4-FFF2-40B4-BE49-F238E27FC236}">
                <a16:creationId xmlns:a16="http://schemas.microsoft.com/office/drawing/2014/main" id="{A6E520F6-461F-ED2B-94FB-CADE9A1177C4}"/>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46444B91-C37A-8730-D49A-C84108EC181A}"/>
              </a:ext>
            </a:extLst>
          </p:cNvPr>
          <p:cNvSpPr/>
          <p:nvPr/>
        </p:nvSpPr>
        <p:spPr>
          <a:xfrm>
            <a:off x="631643" y="955798"/>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marL="228600" indent="0" algn="l"/>
            <a:r>
              <a:rPr lang="en-US" sz="1800" b="1" dirty="0">
                <a:solidFill>
                  <a:srgbClr val="0A2342"/>
                </a:solidFill>
                <a:latin typeface="Trebuchet MS" pitchFamily="34" charset="0"/>
              </a:rPr>
              <a:t>About Axon Healthcare</a:t>
            </a:r>
          </a:p>
          <a:p>
            <a:pPr marL="228600" indent="0" algn="l">
              <a:lnSpc>
                <a:spcPts val="2400"/>
              </a:lnSpc>
              <a:spcBef>
                <a:spcPts val="300"/>
              </a:spcBef>
            </a:pPr>
            <a:r>
              <a:rPr lang="en-US" sz="1200" dirty="0">
                <a:solidFill>
                  <a:srgbClr val="334155"/>
                </a:solidFill>
                <a:latin typeface="Calibri" pitchFamily="34" charset="0"/>
              </a:rPr>
              <a:t>Axon Healthcare is a health technology company dedicated to transforming patient care through data-driven insights. As an Electronic Medical Records (EMR) software provider, Axon serves hospitals, clinics, and multi-specialty practices across the United States.</a:t>
            </a:r>
          </a:p>
          <a:p>
            <a:pPr marL="228600" indent="0" algn="l">
              <a:spcBef>
                <a:spcPts val="400"/>
              </a:spcBef>
            </a:pPr>
            <a:r>
              <a:rPr lang="en-US" sz="1400" b="1" dirty="0">
                <a:solidFill>
                  <a:srgbClr val="028090"/>
                </a:solidFill>
                <a:latin typeface="Trebuchet MS" pitchFamily="34" charset="0"/>
              </a:rPr>
              <a:t>Project Objective</a:t>
            </a:r>
          </a:p>
          <a:p>
            <a:pPr marL="228600" indent="0" algn="l">
              <a:lnSpc>
                <a:spcPts val="2400"/>
              </a:lnSpc>
            </a:pPr>
            <a:r>
              <a:rPr lang="en-US" sz="1200" dirty="0">
                <a:solidFill>
                  <a:srgbClr val="334155"/>
                </a:solidFill>
                <a:latin typeface="Calibri" pitchFamily="34" charset="0"/>
              </a:rPr>
              <a:t>This analysis examines 10,000 de-identified patient records spanning 2023–2025. The goal is to uncover patterns in patient demographics, visit behavior, treatment outcomes, and lab diagnostics to help Axon’s partner facilities improve operational efficiency and patient outcomes.</a:t>
            </a:r>
          </a:p>
          <a:p>
            <a:pPr marL="228600" indent="0" algn="l">
              <a:spcBef>
                <a:spcPts val="400"/>
              </a:spcBef>
            </a:pPr>
            <a:r>
              <a:rPr lang="en-US" sz="1400" b="1" dirty="0">
                <a:solidFill>
                  <a:srgbClr val="028090"/>
                </a:solidFill>
                <a:latin typeface="Trebuchet MS" pitchFamily="34" charset="0"/>
              </a:rPr>
              <a:t>Dataset Scope</a:t>
            </a:r>
          </a:p>
          <a:p>
            <a:pPr marL="228600" indent="0" algn="l">
              <a:lnSpc>
                <a:spcPts val="2400"/>
              </a:lnSpc>
            </a:pPr>
            <a:r>
              <a:rPr lang="en-US" sz="1200" dirty="0">
                <a:solidFill>
                  <a:srgbClr val="334155"/>
                </a:solidFill>
                <a:latin typeface="Calibri" pitchFamily="34" charset="0"/>
              </a:rPr>
              <a:t>10,000 patients  •  10,000 visit records  •  1,000 doctors  •  5 U.S. states  •  3 years of data (2023–2025)  •  Tools: Excel, Power BI, SQL, Tableau</a:t>
            </a:r>
          </a:p>
        </p:txBody>
      </p:sp>
    </p:spTree>
    <p:extLst>
      <p:ext uri="{BB962C8B-B14F-4D97-AF65-F5344CB8AC3E}">
        <p14:creationId xmlns:p14="http://schemas.microsoft.com/office/powerpoint/2010/main" val="225565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4C26FF18-D14C-4E8B-B231-2EDFC8C68B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78AF27-8772-28BD-B1E9-5ED86F7AF3AA}"/>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30B663F7-3228-5327-AC21-16503E48068E}"/>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2BFE47F1-3013-AA11-ECC1-E08670901321}"/>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Data Cleaning And Processing</a:t>
            </a:r>
            <a:endParaRPr lang="en-US" sz="2600" dirty="0"/>
          </a:p>
        </p:txBody>
      </p:sp>
      <p:sp>
        <p:nvSpPr>
          <p:cNvPr id="21" name="Text 19">
            <a:extLst>
              <a:ext uri="{FF2B5EF4-FFF2-40B4-BE49-F238E27FC236}">
                <a16:creationId xmlns:a16="http://schemas.microsoft.com/office/drawing/2014/main" id="{0B3B3870-AB80-5A8A-2EC4-744364FFEEB9}"/>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726ACBE8-C63B-A417-41CA-11744712DBF6}"/>
              </a:ext>
            </a:extLst>
          </p:cNvPr>
          <p:cNvSpPr/>
          <p:nvPr/>
        </p:nvSpPr>
        <p:spPr>
          <a:xfrm>
            <a:off x="484958" y="955798"/>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marL="228600" indent="0" algn="l"/>
            <a:r>
              <a:rPr lang="en-US" sz="1400" b="1" dirty="0">
                <a:solidFill>
                  <a:srgbClr val="0A2342"/>
                </a:solidFill>
                <a:latin typeface="Trebuchet MS" pitchFamily="34" charset="0"/>
              </a:rPr>
              <a:t>Challenges Encountered</a:t>
            </a:r>
          </a:p>
          <a:p>
            <a:pPr marL="457200" indent="-228600" algn="l">
              <a:lnSpc>
                <a:spcPts val="2200"/>
              </a:lnSpc>
            </a:pPr>
            <a:r>
              <a:rPr lang="en-US" sz="1100" dirty="0">
                <a:solidFill>
                  <a:srgbClr val="334155"/>
                </a:solidFill>
                <a:latin typeface="Calibri" pitchFamily="34" charset="0"/>
              </a:rPr>
              <a:t>•  Missing values in Patient_ID, Visit_Date, and Lab_Result fields requiring imputation or removal</a:t>
            </a:r>
          </a:p>
          <a:p>
            <a:pPr marL="457200" indent="-228600" algn="l">
              <a:lnSpc>
                <a:spcPts val="2200"/>
              </a:lnSpc>
            </a:pPr>
            <a:r>
              <a:rPr lang="en-US" sz="1100" dirty="0">
                <a:solidFill>
                  <a:srgbClr val="334155"/>
                </a:solidFill>
                <a:latin typeface="Calibri" pitchFamily="34" charset="0"/>
              </a:rPr>
              <a:t>•  Inconsistent date formats across Visit_Date and DOB columns (MM/DD/YYYY vs YYYY-MM-DD)</a:t>
            </a:r>
          </a:p>
          <a:p>
            <a:pPr marL="457200" indent="-228600" algn="l">
              <a:lnSpc>
                <a:spcPts val="2200"/>
              </a:lnSpc>
            </a:pPr>
            <a:r>
              <a:rPr lang="en-US" sz="1100" dirty="0">
                <a:solidFill>
                  <a:srgbClr val="334155"/>
                </a:solidFill>
                <a:latin typeface="Calibri" pitchFamily="34" charset="0"/>
              </a:rPr>
              <a:t>•  Duplicate patient entries and outlier treatment cost values (&gt;$5,000) identified and removed</a:t>
            </a:r>
          </a:p>
          <a:p>
            <a:pPr marL="457200" indent="-228600" algn="l">
              <a:lnSpc>
                <a:spcPts val="2200"/>
              </a:lnSpc>
            </a:pPr>
            <a:r>
              <a:rPr lang="en-US" sz="1100" dirty="0">
                <a:solidFill>
                  <a:srgbClr val="334155"/>
                </a:solidFill>
                <a:latin typeface="Calibri" pitchFamily="34" charset="0"/>
              </a:rPr>
              <a:t>•  Non-standardized categorical values (e.g. “M”, “Male”, “male”) in Gender and </a:t>
            </a:r>
            <a:r>
              <a:rPr lang="en-US" sz="1100" dirty="0" err="1">
                <a:solidFill>
                  <a:srgbClr val="334155"/>
                </a:solidFill>
                <a:latin typeface="Calibri" pitchFamily="34" charset="0"/>
              </a:rPr>
              <a:t>Visit_Type</a:t>
            </a:r>
            <a:r>
              <a:rPr lang="en-US" sz="1100" dirty="0">
                <a:solidFill>
                  <a:srgbClr val="334155"/>
                </a:solidFill>
                <a:latin typeface="Calibri" pitchFamily="34" charset="0"/>
              </a:rPr>
              <a:t> fields</a:t>
            </a:r>
          </a:p>
          <a:p>
            <a:pPr marL="457200" indent="-228600" algn="l">
              <a:lnSpc>
                <a:spcPts val="2200"/>
              </a:lnSpc>
            </a:pPr>
            <a:endParaRPr lang="en-US" sz="1100" dirty="0">
              <a:solidFill>
                <a:srgbClr val="334155"/>
              </a:solidFill>
              <a:latin typeface="Calibri" pitchFamily="34" charset="0"/>
            </a:endParaRPr>
          </a:p>
          <a:p>
            <a:pPr marL="228600" indent="0" algn="l">
              <a:spcBef>
                <a:spcPts val="400"/>
              </a:spcBef>
            </a:pPr>
            <a:r>
              <a:rPr lang="en-US" sz="1400" b="1" dirty="0">
                <a:solidFill>
                  <a:srgbClr val="028090"/>
                </a:solidFill>
                <a:latin typeface="Trebuchet MS" pitchFamily="34" charset="0"/>
              </a:rPr>
              <a:t>Steps Taken</a:t>
            </a:r>
          </a:p>
          <a:p>
            <a:pPr marL="457200" indent="-228600" algn="l">
              <a:lnSpc>
                <a:spcPts val="2200"/>
              </a:lnSpc>
            </a:pPr>
            <a:r>
              <a:rPr lang="en-US" sz="1100" dirty="0">
                <a:solidFill>
                  <a:srgbClr val="334155"/>
                </a:solidFill>
                <a:latin typeface="Calibri" pitchFamily="34" charset="0"/>
              </a:rPr>
              <a:t>•  Standardized all date columns to YYYY-MM-DD using Excel Power Query and SQL CAST functions</a:t>
            </a:r>
          </a:p>
          <a:p>
            <a:pPr marL="457200" indent="-228600" algn="l">
              <a:lnSpc>
                <a:spcPts val="2200"/>
              </a:lnSpc>
            </a:pPr>
            <a:r>
              <a:rPr lang="en-US" sz="1100" dirty="0">
                <a:solidFill>
                  <a:srgbClr val="334155"/>
                </a:solidFill>
                <a:latin typeface="Calibri" pitchFamily="34" charset="0"/>
              </a:rPr>
              <a:t>•  Applied TRIM, PROPER, and IFERROR functions in Excel to normalize categorical fields and flag errors</a:t>
            </a:r>
          </a:p>
          <a:p>
            <a:pPr marL="457200" indent="-228600" algn="l">
              <a:lnSpc>
                <a:spcPts val="2200"/>
              </a:lnSpc>
            </a:pPr>
            <a:r>
              <a:rPr lang="en-US" sz="1100" dirty="0">
                <a:solidFill>
                  <a:srgbClr val="334155"/>
                </a:solidFill>
                <a:latin typeface="Calibri" pitchFamily="34" charset="0"/>
              </a:rPr>
              <a:t>•  Removed 47 duplicate records and capped Treatment_Cost outliers using IQR method</a:t>
            </a:r>
          </a:p>
          <a:p>
            <a:pPr marL="457200" indent="-228600" algn="l">
              <a:lnSpc>
                <a:spcPts val="2200"/>
              </a:lnSpc>
            </a:pPr>
            <a:r>
              <a:rPr lang="en-US" sz="1100" dirty="0">
                <a:solidFill>
                  <a:srgbClr val="334155"/>
                </a:solidFill>
                <a:latin typeface="Calibri" pitchFamily="34" charset="0"/>
              </a:rPr>
              <a:t>•  Created derived columns: Age_Group, Visit_Year, and Cost_Band for segmentation in Power BI and Tableau</a:t>
            </a:r>
          </a:p>
        </p:txBody>
      </p:sp>
    </p:spTree>
    <p:extLst>
      <p:ext uri="{BB962C8B-B14F-4D97-AF65-F5344CB8AC3E}">
        <p14:creationId xmlns:p14="http://schemas.microsoft.com/office/powerpoint/2010/main" val="1972012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0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20040" y="91440"/>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Executive Summary</a:t>
            </a:r>
            <a:endParaRPr lang="en-US" sz="2600" dirty="0"/>
          </a:p>
        </p:txBody>
      </p:sp>
      <p:sp>
        <p:nvSpPr>
          <p:cNvPr id="5" name="Shape 3"/>
          <p:cNvSpPr/>
          <p:nvPr/>
        </p:nvSpPr>
        <p:spPr>
          <a:xfrm>
            <a:off x="274320" y="1005840"/>
            <a:ext cx="4114800" cy="1737360"/>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274320" y="1005840"/>
            <a:ext cx="54864" cy="1737360"/>
          </a:xfrm>
          <a:prstGeom prst="rect">
            <a:avLst/>
          </a:prstGeom>
          <a:solidFill>
            <a:srgbClr val="028090"/>
          </a:solidFill>
          <a:ln w="12700">
            <a:solidFill>
              <a:srgbClr val="028090"/>
            </a:solidFill>
            <a:prstDash val="solid"/>
          </a:ln>
        </p:spPr>
        <p:txBody>
          <a:bodyPr/>
          <a:lstStyle/>
          <a:p>
            <a:endParaRPr lang="en-IN"/>
          </a:p>
        </p:txBody>
      </p:sp>
      <p:sp>
        <p:nvSpPr>
          <p:cNvPr id="7" name="Text 5"/>
          <p:cNvSpPr/>
          <p:nvPr/>
        </p:nvSpPr>
        <p:spPr>
          <a:xfrm>
            <a:off x="411480" y="1115568"/>
            <a:ext cx="3840480" cy="347472"/>
          </a:xfrm>
          <a:prstGeom prst="rect">
            <a:avLst/>
          </a:prstGeom>
          <a:noFill/>
          <a:ln/>
        </p:spPr>
        <p:txBody>
          <a:bodyPr wrap="square" lIns="0" tIns="0" rIns="0" bIns="0" rtlCol="0" anchor="ctr"/>
          <a:lstStyle/>
          <a:p>
            <a:pPr marL="0" indent="0">
              <a:buNone/>
            </a:pPr>
            <a:r>
              <a:rPr lang="en-US" sz="1400" b="1" dirty="0">
                <a:solidFill>
                  <a:srgbClr val="0A2342"/>
                </a:solidFill>
                <a:latin typeface="Trebuchet MS" pitchFamily="34" charset="0"/>
                <a:ea typeface="Trebuchet MS" pitchFamily="34" charset="-122"/>
                <a:cs typeface="Trebuchet MS" pitchFamily="34" charset="-120"/>
              </a:rPr>
              <a:t>👥  Patient Demographics</a:t>
            </a:r>
            <a:endParaRPr lang="en-US" sz="1400" dirty="0"/>
          </a:p>
        </p:txBody>
      </p:sp>
      <p:sp>
        <p:nvSpPr>
          <p:cNvPr id="8" name="Text 6"/>
          <p:cNvSpPr/>
          <p:nvPr/>
        </p:nvSpPr>
        <p:spPr>
          <a:xfrm>
            <a:off x="411480" y="1481328"/>
            <a:ext cx="3840480" cy="11430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10,000 patients with avg. age 49 years. Near-equal split across Male (32.8%), Female (33.1%) and Other (34%). Spread across 5 major U.S. states.</a:t>
            </a:r>
            <a:endParaRPr lang="en-US" sz="1100" dirty="0"/>
          </a:p>
        </p:txBody>
      </p:sp>
      <p:sp>
        <p:nvSpPr>
          <p:cNvPr id="9" name="Shape 7"/>
          <p:cNvSpPr/>
          <p:nvPr/>
        </p:nvSpPr>
        <p:spPr>
          <a:xfrm>
            <a:off x="4709160" y="1005840"/>
            <a:ext cx="4114800" cy="1737360"/>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endParaRPr lang="en-IN"/>
          </a:p>
        </p:txBody>
      </p:sp>
      <p:sp>
        <p:nvSpPr>
          <p:cNvPr id="10" name="Shape 8"/>
          <p:cNvSpPr/>
          <p:nvPr/>
        </p:nvSpPr>
        <p:spPr>
          <a:xfrm>
            <a:off x="4709160" y="1005840"/>
            <a:ext cx="54864" cy="1737360"/>
          </a:xfrm>
          <a:prstGeom prst="rect">
            <a:avLst/>
          </a:prstGeom>
          <a:solidFill>
            <a:srgbClr val="028090"/>
          </a:solidFill>
          <a:ln w="12700">
            <a:solidFill>
              <a:srgbClr val="028090"/>
            </a:solidFill>
            <a:prstDash val="solid"/>
          </a:ln>
        </p:spPr>
        <p:txBody>
          <a:bodyPr/>
          <a:lstStyle/>
          <a:p>
            <a:endParaRPr lang="en-IN"/>
          </a:p>
        </p:txBody>
      </p:sp>
      <p:sp>
        <p:nvSpPr>
          <p:cNvPr id="11" name="Text 9"/>
          <p:cNvSpPr/>
          <p:nvPr/>
        </p:nvSpPr>
        <p:spPr>
          <a:xfrm>
            <a:off x="4846320" y="1115568"/>
            <a:ext cx="3840480" cy="347472"/>
          </a:xfrm>
          <a:prstGeom prst="rect">
            <a:avLst/>
          </a:prstGeom>
          <a:noFill/>
          <a:ln/>
        </p:spPr>
        <p:txBody>
          <a:bodyPr wrap="square" lIns="0" tIns="0" rIns="0" bIns="0" rtlCol="0" anchor="ctr"/>
          <a:lstStyle/>
          <a:p>
            <a:pPr marL="0" indent="0">
              <a:buNone/>
            </a:pPr>
            <a:r>
              <a:rPr lang="en-US" sz="1400" b="1" dirty="0">
                <a:solidFill>
                  <a:srgbClr val="0A2342"/>
                </a:solidFill>
                <a:latin typeface="Trebuchet MS" pitchFamily="34" charset="0"/>
                <a:ea typeface="Trebuchet MS" pitchFamily="34" charset="-122"/>
                <a:cs typeface="Trebuchet MS" pitchFamily="34" charset="-120"/>
              </a:rPr>
              <a:t>🏥  Visit Patterns</a:t>
            </a:r>
            <a:endParaRPr lang="en-US" sz="1400" dirty="0"/>
          </a:p>
        </p:txBody>
      </p:sp>
      <p:sp>
        <p:nvSpPr>
          <p:cNvPr id="12" name="Text 10"/>
          <p:cNvSpPr/>
          <p:nvPr/>
        </p:nvSpPr>
        <p:spPr>
          <a:xfrm>
            <a:off x="4846320" y="1481328"/>
            <a:ext cx="3840480" cy="11430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3,966 visits in 2023, 4,927 in 2024 — a 24% YoY growth. Visits evenly distributed across Emergency, Routine, Follow-up and Specialist types.</a:t>
            </a:r>
            <a:endParaRPr lang="en-US" sz="1100" dirty="0"/>
          </a:p>
        </p:txBody>
      </p:sp>
      <p:sp>
        <p:nvSpPr>
          <p:cNvPr id="13" name="Shape 11"/>
          <p:cNvSpPr/>
          <p:nvPr/>
        </p:nvSpPr>
        <p:spPr>
          <a:xfrm>
            <a:off x="274320" y="2926080"/>
            <a:ext cx="4114800" cy="1737360"/>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endParaRPr lang="en-IN"/>
          </a:p>
        </p:txBody>
      </p:sp>
      <p:sp>
        <p:nvSpPr>
          <p:cNvPr id="14" name="Shape 12"/>
          <p:cNvSpPr/>
          <p:nvPr/>
        </p:nvSpPr>
        <p:spPr>
          <a:xfrm>
            <a:off x="274320" y="2926080"/>
            <a:ext cx="54864" cy="1737360"/>
          </a:xfrm>
          <a:prstGeom prst="rect">
            <a:avLst/>
          </a:prstGeom>
          <a:solidFill>
            <a:srgbClr val="028090"/>
          </a:solidFill>
          <a:ln w="12700">
            <a:solidFill>
              <a:srgbClr val="028090"/>
            </a:solidFill>
            <a:prstDash val="solid"/>
          </a:ln>
        </p:spPr>
        <p:txBody>
          <a:bodyPr/>
          <a:lstStyle/>
          <a:p>
            <a:endParaRPr lang="en-IN"/>
          </a:p>
        </p:txBody>
      </p:sp>
      <p:sp>
        <p:nvSpPr>
          <p:cNvPr id="15" name="Text 13"/>
          <p:cNvSpPr/>
          <p:nvPr/>
        </p:nvSpPr>
        <p:spPr>
          <a:xfrm>
            <a:off x="411480" y="3035808"/>
            <a:ext cx="3840480" cy="347472"/>
          </a:xfrm>
          <a:prstGeom prst="rect">
            <a:avLst/>
          </a:prstGeom>
          <a:noFill/>
          <a:ln/>
        </p:spPr>
        <p:txBody>
          <a:bodyPr wrap="square" lIns="0" tIns="0" rIns="0" bIns="0" rtlCol="0" anchor="ctr"/>
          <a:lstStyle/>
          <a:p>
            <a:pPr marL="0" indent="0">
              <a:buNone/>
            </a:pPr>
            <a:r>
              <a:rPr lang="en-US" sz="1400" b="1" dirty="0">
                <a:solidFill>
                  <a:srgbClr val="0A2342"/>
                </a:solidFill>
                <a:latin typeface="Trebuchet MS" pitchFamily="34" charset="0"/>
                <a:ea typeface="Trebuchet MS" pitchFamily="34" charset="-122"/>
                <a:cs typeface="Trebuchet MS" pitchFamily="34" charset="-120"/>
              </a:rPr>
              <a:t>💊  Treatment Insights</a:t>
            </a:r>
            <a:endParaRPr lang="en-US" sz="1400" dirty="0"/>
          </a:p>
        </p:txBody>
      </p:sp>
      <p:sp>
        <p:nvSpPr>
          <p:cNvPr id="16" name="Text 14"/>
          <p:cNvSpPr/>
          <p:nvPr/>
        </p:nvSpPr>
        <p:spPr>
          <a:xfrm>
            <a:off x="411480" y="3401568"/>
            <a:ext cx="3840480" cy="11430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Avg. treatment cost: $524.75. Vaccination is the top treatment type (25.7%). Success rate stands at 33%, with 33.5% of treatments ongoing.</a:t>
            </a:r>
            <a:endParaRPr lang="en-US" sz="1100" dirty="0"/>
          </a:p>
        </p:txBody>
      </p:sp>
      <p:sp>
        <p:nvSpPr>
          <p:cNvPr id="17" name="Shape 15"/>
          <p:cNvSpPr/>
          <p:nvPr/>
        </p:nvSpPr>
        <p:spPr>
          <a:xfrm>
            <a:off x="4709160" y="2926080"/>
            <a:ext cx="4114800" cy="1737360"/>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endParaRPr lang="en-IN"/>
          </a:p>
        </p:txBody>
      </p:sp>
      <p:sp>
        <p:nvSpPr>
          <p:cNvPr id="18" name="Shape 16"/>
          <p:cNvSpPr/>
          <p:nvPr/>
        </p:nvSpPr>
        <p:spPr>
          <a:xfrm>
            <a:off x="4709160" y="2926080"/>
            <a:ext cx="54864" cy="1737360"/>
          </a:xfrm>
          <a:prstGeom prst="rect">
            <a:avLst/>
          </a:prstGeom>
          <a:solidFill>
            <a:srgbClr val="028090"/>
          </a:solidFill>
          <a:ln w="12700">
            <a:solidFill>
              <a:srgbClr val="028090"/>
            </a:solidFill>
            <a:prstDash val="solid"/>
          </a:ln>
        </p:spPr>
        <p:txBody>
          <a:bodyPr/>
          <a:lstStyle/>
          <a:p>
            <a:endParaRPr lang="en-IN"/>
          </a:p>
        </p:txBody>
      </p:sp>
      <p:sp>
        <p:nvSpPr>
          <p:cNvPr id="19" name="Text 17"/>
          <p:cNvSpPr/>
          <p:nvPr/>
        </p:nvSpPr>
        <p:spPr>
          <a:xfrm>
            <a:off x="4846320" y="3035808"/>
            <a:ext cx="3840480" cy="347472"/>
          </a:xfrm>
          <a:prstGeom prst="rect">
            <a:avLst/>
          </a:prstGeom>
          <a:noFill/>
          <a:ln/>
        </p:spPr>
        <p:txBody>
          <a:bodyPr wrap="square" lIns="0" tIns="0" rIns="0" bIns="0" rtlCol="0" anchor="ctr"/>
          <a:lstStyle/>
          <a:p>
            <a:pPr marL="0" indent="0">
              <a:buNone/>
            </a:pPr>
            <a:r>
              <a:rPr lang="en-US" sz="1400" b="1" dirty="0">
                <a:solidFill>
                  <a:srgbClr val="0A2342"/>
                </a:solidFill>
                <a:latin typeface="Trebuchet MS" pitchFamily="34" charset="0"/>
                <a:ea typeface="Trebuchet MS" pitchFamily="34" charset="-122"/>
                <a:cs typeface="Trebuchet MS" pitchFamily="34" charset="-120"/>
              </a:rPr>
              <a:t>🔬  Lab Results</a:t>
            </a:r>
            <a:endParaRPr lang="en-US" sz="1400" dirty="0"/>
          </a:p>
        </p:txBody>
      </p:sp>
      <p:sp>
        <p:nvSpPr>
          <p:cNvPr id="20" name="Text 18"/>
          <p:cNvSpPr/>
          <p:nvPr/>
        </p:nvSpPr>
        <p:spPr>
          <a:xfrm>
            <a:off x="4846320" y="3401568"/>
            <a:ext cx="3840480" cy="11430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10,000 lab records. 33.5% results Abnormal, 33.4% Pending and 33% Normal. Blood Test, X-Ray and CT Scan are top tests performed.</a:t>
            </a:r>
            <a:endParaRPr lang="en-US" sz="1100" dirty="0"/>
          </a:p>
        </p:txBody>
      </p:sp>
      <p:sp>
        <p:nvSpPr>
          <p:cNvPr id="21" name="Text 19"/>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F719CA73-001D-A57B-0AF8-94C03CAC59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23EB6B-C8B2-900D-1879-6F1956FC4FCF}"/>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50B6791E-C622-0793-79D9-43FC10730221}"/>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54678AE3-FEC2-3739-B21E-151D51082206}"/>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Observations</a:t>
            </a:r>
            <a:endParaRPr lang="en-US" sz="2600" dirty="0"/>
          </a:p>
        </p:txBody>
      </p:sp>
      <p:sp>
        <p:nvSpPr>
          <p:cNvPr id="21" name="Text 19">
            <a:extLst>
              <a:ext uri="{FF2B5EF4-FFF2-40B4-BE49-F238E27FC236}">
                <a16:creationId xmlns:a16="http://schemas.microsoft.com/office/drawing/2014/main" id="{4643E20B-25DF-4C38-D9CA-E4960616505B}"/>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D7B45FBC-5B5E-05D4-6150-0EB8D611CCDC}"/>
              </a:ext>
            </a:extLst>
          </p:cNvPr>
          <p:cNvSpPr/>
          <p:nvPr/>
        </p:nvSpPr>
        <p:spPr>
          <a:xfrm>
            <a:off x="399778" y="1028700"/>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algn="ctr"/>
            <a:endParaRPr lang="en-IN"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D5800A40-F413-8FDC-FAA2-1DE0E0BF3AE5}"/>
              </a:ext>
            </a:extLst>
          </p:cNvPr>
          <p:cNvGrpSpPr/>
          <p:nvPr/>
        </p:nvGrpSpPr>
        <p:grpSpPr>
          <a:xfrm>
            <a:off x="804505" y="1140170"/>
            <a:ext cx="1837944" cy="777240"/>
            <a:chOff x="539496" y="3351276"/>
            <a:chExt cx="1837944" cy="777240"/>
          </a:xfrm>
        </p:grpSpPr>
        <p:sp>
          <p:nvSpPr>
            <p:cNvPr id="7" name="Shape 6">
              <a:extLst>
                <a:ext uri="{FF2B5EF4-FFF2-40B4-BE49-F238E27FC236}">
                  <a16:creationId xmlns:a16="http://schemas.microsoft.com/office/drawing/2014/main" id="{57C0D789-E440-A66D-C7B1-09D18BADE247}"/>
                </a:ext>
              </a:extLst>
            </p:cNvPr>
            <p:cNvSpPr/>
            <p:nvPr/>
          </p:nvSpPr>
          <p:spPr>
            <a:xfrm>
              <a:off x="539496" y="3351276"/>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dirty="0">
                <a:highlight>
                  <a:srgbClr val="000000"/>
                </a:highlight>
              </a:endParaRPr>
            </a:p>
          </p:txBody>
        </p:sp>
        <p:sp>
          <p:nvSpPr>
            <p:cNvPr id="8" name="Text 7">
              <a:extLst>
                <a:ext uri="{FF2B5EF4-FFF2-40B4-BE49-F238E27FC236}">
                  <a16:creationId xmlns:a16="http://schemas.microsoft.com/office/drawing/2014/main" id="{0695C89C-F786-6C5B-3780-3AF8525B035C}"/>
                </a:ext>
              </a:extLst>
            </p:cNvPr>
            <p:cNvSpPr/>
            <p:nvPr/>
          </p:nvSpPr>
          <p:spPr>
            <a:xfrm>
              <a:off x="548640" y="3392424"/>
              <a:ext cx="1828800" cy="384048"/>
            </a:xfrm>
            <a:prstGeom prst="rect">
              <a:avLst/>
            </a:prstGeom>
            <a:noFill/>
            <a:ln/>
          </p:spPr>
          <p:txBody>
            <a:bodyPr wrap="square" lIns="0" tIns="0" rIns="0" bIns="0" rtlCol="0" anchor="ctr"/>
            <a:lstStyle/>
            <a:p>
              <a:pPr marL="0" indent="0" algn="ctr">
                <a:buNone/>
              </a:pPr>
              <a:r>
                <a:rPr lang="en-US" sz="2000" b="1" dirty="0">
                  <a:solidFill>
                    <a:srgbClr val="028090"/>
                  </a:solidFill>
                  <a:latin typeface="Trebuchet MS" pitchFamily="34" charset="0"/>
                  <a:ea typeface="Trebuchet MS" pitchFamily="34" charset="-122"/>
                  <a:cs typeface="Trebuchet MS" pitchFamily="34" charset="-120"/>
                </a:rPr>
                <a:t>10,000</a:t>
              </a:r>
              <a:endParaRPr lang="en-US" sz="2000" dirty="0">
                <a:solidFill>
                  <a:srgbClr val="028090"/>
                </a:solidFill>
              </a:endParaRPr>
            </a:p>
          </p:txBody>
        </p:sp>
        <p:sp>
          <p:nvSpPr>
            <p:cNvPr id="9" name="Text 8">
              <a:extLst>
                <a:ext uri="{FF2B5EF4-FFF2-40B4-BE49-F238E27FC236}">
                  <a16:creationId xmlns:a16="http://schemas.microsoft.com/office/drawing/2014/main" id="{EC6BE25F-362F-F5DD-CE18-74E3287D9BEA}"/>
                </a:ext>
              </a:extLst>
            </p:cNvPr>
            <p:cNvSpPr/>
            <p:nvPr/>
          </p:nvSpPr>
          <p:spPr>
            <a:xfrm>
              <a:off x="548640" y="3758184"/>
              <a:ext cx="1828800" cy="256032"/>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Patients</a:t>
              </a:r>
              <a:endParaRPr lang="en-US" sz="1200" dirty="0"/>
            </a:p>
          </p:txBody>
        </p:sp>
      </p:grpSp>
      <p:grpSp>
        <p:nvGrpSpPr>
          <p:cNvPr id="13" name="Group 12">
            <a:extLst>
              <a:ext uri="{FF2B5EF4-FFF2-40B4-BE49-F238E27FC236}">
                <a16:creationId xmlns:a16="http://schemas.microsoft.com/office/drawing/2014/main" id="{94B47D6E-74A2-C976-B553-A4E1613949E7}"/>
              </a:ext>
            </a:extLst>
          </p:cNvPr>
          <p:cNvGrpSpPr/>
          <p:nvPr/>
        </p:nvGrpSpPr>
        <p:grpSpPr>
          <a:xfrm>
            <a:off x="804505" y="2093541"/>
            <a:ext cx="1828800" cy="777240"/>
            <a:chOff x="2560320" y="3337560"/>
            <a:chExt cx="1828800" cy="777240"/>
          </a:xfrm>
        </p:grpSpPr>
        <p:sp>
          <p:nvSpPr>
            <p:cNvPr id="14" name="Shape 9">
              <a:extLst>
                <a:ext uri="{FF2B5EF4-FFF2-40B4-BE49-F238E27FC236}">
                  <a16:creationId xmlns:a16="http://schemas.microsoft.com/office/drawing/2014/main" id="{E3477C05-E6BB-D612-BF2C-777481336D33}"/>
                </a:ext>
              </a:extLst>
            </p:cNvPr>
            <p:cNvSpPr/>
            <p:nvPr/>
          </p:nvSpPr>
          <p:spPr>
            <a:xfrm>
              <a:off x="2560320" y="3337560"/>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a:p>
          </p:txBody>
        </p:sp>
        <p:grpSp>
          <p:nvGrpSpPr>
            <p:cNvPr id="15" name="Group 14">
              <a:extLst>
                <a:ext uri="{FF2B5EF4-FFF2-40B4-BE49-F238E27FC236}">
                  <a16:creationId xmlns:a16="http://schemas.microsoft.com/office/drawing/2014/main" id="{6298BD63-A320-0423-7F55-CEA2B004B60E}"/>
                </a:ext>
              </a:extLst>
            </p:cNvPr>
            <p:cNvGrpSpPr/>
            <p:nvPr/>
          </p:nvGrpSpPr>
          <p:grpSpPr>
            <a:xfrm>
              <a:off x="2560320" y="3392424"/>
              <a:ext cx="1828800" cy="621792"/>
              <a:chOff x="2560320" y="3392424"/>
              <a:chExt cx="1828800" cy="621792"/>
            </a:xfrm>
          </p:grpSpPr>
          <p:sp>
            <p:nvSpPr>
              <p:cNvPr id="16" name="Text 10">
                <a:extLst>
                  <a:ext uri="{FF2B5EF4-FFF2-40B4-BE49-F238E27FC236}">
                    <a16:creationId xmlns:a16="http://schemas.microsoft.com/office/drawing/2014/main" id="{9F61FDD4-96EB-EB63-235B-FFA2AE0239B5}"/>
                  </a:ext>
                </a:extLst>
              </p:cNvPr>
              <p:cNvSpPr/>
              <p:nvPr/>
            </p:nvSpPr>
            <p:spPr>
              <a:xfrm>
                <a:off x="2560320" y="3392424"/>
                <a:ext cx="1828800" cy="384048"/>
              </a:xfrm>
              <a:prstGeom prst="rect">
                <a:avLst/>
              </a:prstGeom>
              <a:noFill/>
              <a:ln/>
            </p:spPr>
            <p:txBody>
              <a:bodyPr wrap="square" lIns="0" tIns="0" rIns="0" bIns="0" rtlCol="0" anchor="ctr"/>
              <a:lstStyle/>
              <a:p>
                <a:pPr marL="0" indent="0" algn="ctr">
                  <a:buNone/>
                </a:pPr>
                <a:r>
                  <a:rPr lang="en-US" sz="2000" b="1" dirty="0">
                    <a:solidFill>
                      <a:srgbClr val="028090"/>
                    </a:solidFill>
                    <a:latin typeface="Trebuchet MS" pitchFamily="34" charset="0"/>
                    <a:ea typeface="Trebuchet MS" pitchFamily="34" charset="-122"/>
                    <a:cs typeface="Trebuchet MS" pitchFamily="34" charset="-120"/>
                  </a:rPr>
                  <a:t>10,000</a:t>
                </a:r>
                <a:endParaRPr lang="en-US" sz="2000" dirty="0">
                  <a:solidFill>
                    <a:srgbClr val="028090"/>
                  </a:solidFill>
                </a:endParaRPr>
              </a:p>
            </p:txBody>
          </p:sp>
          <p:sp>
            <p:nvSpPr>
              <p:cNvPr id="17" name="Text 11">
                <a:extLst>
                  <a:ext uri="{FF2B5EF4-FFF2-40B4-BE49-F238E27FC236}">
                    <a16:creationId xmlns:a16="http://schemas.microsoft.com/office/drawing/2014/main" id="{18CAFBC7-CEB7-396F-3D67-0ED2977C8080}"/>
                  </a:ext>
                </a:extLst>
              </p:cNvPr>
              <p:cNvSpPr/>
              <p:nvPr/>
            </p:nvSpPr>
            <p:spPr>
              <a:xfrm>
                <a:off x="2560320" y="3758184"/>
                <a:ext cx="1828800" cy="256032"/>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Visits</a:t>
                </a:r>
                <a:endParaRPr lang="en-US" sz="1200" dirty="0"/>
              </a:p>
            </p:txBody>
          </p:sp>
        </p:grpSp>
      </p:grpSp>
      <p:grpSp>
        <p:nvGrpSpPr>
          <p:cNvPr id="18" name="Group 17">
            <a:extLst>
              <a:ext uri="{FF2B5EF4-FFF2-40B4-BE49-F238E27FC236}">
                <a16:creationId xmlns:a16="http://schemas.microsoft.com/office/drawing/2014/main" id="{BD910F36-3A43-166C-D656-16B727F594E2}"/>
              </a:ext>
            </a:extLst>
          </p:cNvPr>
          <p:cNvGrpSpPr/>
          <p:nvPr/>
        </p:nvGrpSpPr>
        <p:grpSpPr>
          <a:xfrm>
            <a:off x="809077" y="3008159"/>
            <a:ext cx="1828800" cy="777240"/>
            <a:chOff x="4572000" y="3337560"/>
            <a:chExt cx="1828800" cy="777240"/>
          </a:xfrm>
        </p:grpSpPr>
        <p:sp>
          <p:nvSpPr>
            <p:cNvPr id="19" name="Shape 12">
              <a:extLst>
                <a:ext uri="{FF2B5EF4-FFF2-40B4-BE49-F238E27FC236}">
                  <a16:creationId xmlns:a16="http://schemas.microsoft.com/office/drawing/2014/main" id="{3A5CF169-492A-6377-42B2-B41E37533336}"/>
                </a:ext>
              </a:extLst>
            </p:cNvPr>
            <p:cNvSpPr/>
            <p:nvPr/>
          </p:nvSpPr>
          <p:spPr>
            <a:xfrm>
              <a:off x="4572000" y="3337560"/>
              <a:ext cx="1828800" cy="777240"/>
            </a:xfrm>
            <a:prstGeom prst="rect">
              <a:avLst/>
            </a:prstGeom>
            <a:solidFill>
              <a:srgbClr val="028090">
                <a:alpha val="45000"/>
              </a:srgbClr>
            </a:solidFill>
            <a:ln w="12700">
              <a:solidFill>
                <a:srgbClr val="02C39A">
                  <a:alpha val="60000"/>
                </a:srgbClr>
              </a:solidFill>
              <a:prstDash val="solid"/>
            </a:ln>
          </p:spPr>
          <p:txBody>
            <a:bodyPr/>
            <a:lstStyle/>
            <a:p>
              <a:endParaRPr lang="en-IN"/>
            </a:p>
          </p:txBody>
        </p:sp>
        <p:sp>
          <p:nvSpPr>
            <p:cNvPr id="20" name="Text 13">
              <a:extLst>
                <a:ext uri="{FF2B5EF4-FFF2-40B4-BE49-F238E27FC236}">
                  <a16:creationId xmlns:a16="http://schemas.microsoft.com/office/drawing/2014/main" id="{E679539C-4A10-4624-F352-D5CE45257619}"/>
                </a:ext>
              </a:extLst>
            </p:cNvPr>
            <p:cNvSpPr/>
            <p:nvPr/>
          </p:nvSpPr>
          <p:spPr>
            <a:xfrm>
              <a:off x="4572000" y="3392424"/>
              <a:ext cx="1828800" cy="384048"/>
            </a:xfrm>
            <a:prstGeom prst="rect">
              <a:avLst/>
            </a:prstGeom>
            <a:noFill/>
            <a:ln/>
          </p:spPr>
          <p:txBody>
            <a:bodyPr wrap="square" lIns="0" tIns="0" rIns="0" bIns="0" rtlCol="0" anchor="ctr"/>
            <a:lstStyle/>
            <a:p>
              <a:pPr marL="0" indent="0" algn="ctr">
                <a:buNone/>
              </a:pPr>
              <a:r>
                <a:rPr lang="en-US" sz="2000" b="1" dirty="0">
                  <a:solidFill>
                    <a:srgbClr val="028090"/>
                  </a:solidFill>
                  <a:latin typeface="Trebuchet MS" pitchFamily="34" charset="0"/>
                  <a:ea typeface="Trebuchet MS" pitchFamily="34" charset="-122"/>
                  <a:cs typeface="Trebuchet MS" pitchFamily="34" charset="-120"/>
                </a:rPr>
                <a:t>1,000</a:t>
              </a:r>
              <a:endParaRPr lang="en-US" sz="2000" dirty="0">
                <a:solidFill>
                  <a:srgbClr val="028090"/>
                </a:solidFill>
              </a:endParaRPr>
            </a:p>
          </p:txBody>
        </p:sp>
        <p:sp>
          <p:nvSpPr>
            <p:cNvPr id="22" name="Text 14">
              <a:extLst>
                <a:ext uri="{FF2B5EF4-FFF2-40B4-BE49-F238E27FC236}">
                  <a16:creationId xmlns:a16="http://schemas.microsoft.com/office/drawing/2014/main" id="{C954A0F8-8184-30BB-D033-0C89696EB8F1}"/>
                </a:ext>
              </a:extLst>
            </p:cNvPr>
            <p:cNvSpPr/>
            <p:nvPr/>
          </p:nvSpPr>
          <p:spPr>
            <a:xfrm>
              <a:off x="4572000" y="3758184"/>
              <a:ext cx="1828800" cy="256032"/>
            </a:xfrm>
            <a:prstGeom prst="rect">
              <a:avLst/>
            </a:prstGeom>
            <a:noFill/>
            <a:ln/>
          </p:spPr>
          <p:txBody>
            <a:bodyPr wrap="square" lIns="0" tIns="0" rIns="0" bIns="0" rtlCol="0" anchor="ctr"/>
            <a:lstStyle/>
            <a:p>
              <a:pPr marL="0" indent="0" algn="ctr">
                <a:buNone/>
              </a:pPr>
              <a:r>
                <a:rPr lang="en-US" sz="1200" dirty="0">
                  <a:latin typeface="Calibri" pitchFamily="34" charset="0"/>
                  <a:ea typeface="Calibri" pitchFamily="34" charset="-122"/>
                  <a:cs typeface="Calibri" pitchFamily="34" charset="-120"/>
                </a:rPr>
                <a:t>Doctors</a:t>
              </a:r>
              <a:endParaRPr lang="en-US" sz="1200" dirty="0"/>
            </a:p>
          </p:txBody>
        </p:sp>
      </p:grpSp>
      <p:grpSp>
        <p:nvGrpSpPr>
          <p:cNvPr id="29" name="Group 28">
            <a:extLst>
              <a:ext uri="{FF2B5EF4-FFF2-40B4-BE49-F238E27FC236}">
                <a16:creationId xmlns:a16="http://schemas.microsoft.com/office/drawing/2014/main" id="{A1207D4D-22D9-B21B-F6AF-57D14F8BA39B}"/>
              </a:ext>
            </a:extLst>
          </p:cNvPr>
          <p:cNvGrpSpPr/>
          <p:nvPr/>
        </p:nvGrpSpPr>
        <p:grpSpPr>
          <a:xfrm>
            <a:off x="809077" y="3901658"/>
            <a:ext cx="1819656" cy="822960"/>
            <a:chOff x="274320" y="3749040"/>
            <a:chExt cx="2743200" cy="822960"/>
          </a:xfrm>
          <a:solidFill>
            <a:srgbClr val="8DC6CD"/>
          </a:solidFill>
        </p:grpSpPr>
        <p:sp>
          <p:nvSpPr>
            <p:cNvPr id="30" name="Shape 3">
              <a:extLst>
                <a:ext uri="{FF2B5EF4-FFF2-40B4-BE49-F238E27FC236}">
                  <a16:creationId xmlns:a16="http://schemas.microsoft.com/office/drawing/2014/main" id="{74D0393C-6F3B-F4B1-D97D-165727C2C533}"/>
                </a:ext>
              </a:extLst>
            </p:cNvPr>
            <p:cNvSpPr/>
            <p:nvPr/>
          </p:nvSpPr>
          <p:spPr>
            <a:xfrm>
              <a:off x="274320" y="3749040"/>
              <a:ext cx="2743200" cy="822960"/>
            </a:xfrm>
            <a:prstGeom prst="rect">
              <a:avLst/>
            </a:prstGeom>
            <a:grpFill/>
            <a:ln w="12700">
              <a:solidFill>
                <a:srgbClr val="028090">
                  <a:alpha val="60000"/>
                </a:srgbClr>
              </a:solidFill>
              <a:prstDash val="solid"/>
            </a:ln>
          </p:spPr>
          <p:txBody>
            <a:bodyPr/>
            <a:lstStyle/>
            <a:p>
              <a:endParaRPr lang="en-IN"/>
            </a:p>
          </p:txBody>
        </p:sp>
        <p:sp>
          <p:nvSpPr>
            <p:cNvPr id="31" name="Text 5">
              <a:extLst>
                <a:ext uri="{FF2B5EF4-FFF2-40B4-BE49-F238E27FC236}">
                  <a16:creationId xmlns:a16="http://schemas.microsoft.com/office/drawing/2014/main" id="{50F61938-D869-CE38-19A6-83AEBC4B6371}"/>
                </a:ext>
              </a:extLst>
            </p:cNvPr>
            <p:cNvSpPr/>
            <p:nvPr/>
          </p:nvSpPr>
          <p:spPr>
            <a:xfrm>
              <a:off x="402336" y="3794760"/>
              <a:ext cx="2468880" cy="274320"/>
            </a:xfrm>
            <a:prstGeom prst="rect">
              <a:avLst/>
            </a:prstGeom>
            <a:grp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Avg. Treatment Cost</a:t>
              </a:r>
              <a:endParaRPr lang="en-US" sz="1000" dirty="0"/>
            </a:p>
          </p:txBody>
        </p:sp>
        <p:sp>
          <p:nvSpPr>
            <p:cNvPr id="32" name="Text 6">
              <a:extLst>
                <a:ext uri="{FF2B5EF4-FFF2-40B4-BE49-F238E27FC236}">
                  <a16:creationId xmlns:a16="http://schemas.microsoft.com/office/drawing/2014/main" id="{2D609302-8E68-D754-428E-6C96B1DC4CEB}"/>
                </a:ext>
              </a:extLst>
            </p:cNvPr>
            <p:cNvSpPr/>
            <p:nvPr/>
          </p:nvSpPr>
          <p:spPr>
            <a:xfrm>
              <a:off x="402336" y="4087368"/>
              <a:ext cx="2468880" cy="365760"/>
            </a:xfrm>
            <a:prstGeom prst="rect">
              <a:avLst/>
            </a:prstGeom>
            <a:grpFill/>
            <a:ln/>
          </p:spPr>
          <p:txBody>
            <a:bodyPr wrap="square" lIns="0" tIns="0" rIns="0" bIns="0" rtlCol="0" anchor="ctr"/>
            <a:lstStyle/>
            <a:p>
              <a:pPr marL="0" indent="0" algn="ctr">
                <a:buNone/>
              </a:pPr>
              <a:r>
                <a:rPr lang="en-US" sz="2000" b="1" dirty="0">
                  <a:solidFill>
                    <a:srgbClr val="028090"/>
                  </a:solidFill>
                  <a:latin typeface="Trebuchet MS" pitchFamily="34" charset="0"/>
                  <a:ea typeface="Trebuchet MS" pitchFamily="34" charset="-122"/>
                  <a:cs typeface="Trebuchet MS" pitchFamily="34" charset="-120"/>
                </a:rPr>
                <a:t>$524.75</a:t>
              </a:r>
              <a:endParaRPr lang="en-US" sz="2000" dirty="0"/>
            </a:p>
          </p:txBody>
        </p:sp>
      </p:grpSp>
      <p:sp>
        <p:nvSpPr>
          <p:cNvPr id="5" name="TextBox 4">
            <a:extLst>
              <a:ext uri="{FF2B5EF4-FFF2-40B4-BE49-F238E27FC236}">
                <a16:creationId xmlns:a16="http://schemas.microsoft.com/office/drawing/2014/main" id="{DCF23F21-1385-8BFD-4C62-AFCBA5F1F767}"/>
              </a:ext>
            </a:extLst>
          </p:cNvPr>
          <p:cNvSpPr txBox="1"/>
          <p:nvPr/>
        </p:nvSpPr>
        <p:spPr>
          <a:xfrm>
            <a:off x="2931462" y="1115088"/>
            <a:ext cx="4969328" cy="3754874"/>
          </a:xfrm>
          <a:prstGeom prst="rect">
            <a:avLst/>
          </a:prstGeom>
          <a:noFill/>
        </p:spPr>
        <p:txBody>
          <a:bodyPr wrap="square" rtlCol="0">
            <a:spAutoFit/>
          </a:bodyPr>
          <a:lstStyle/>
          <a:p>
            <a:endParaRPr lang="en-GB" sz="1400" b="1" dirty="0"/>
          </a:p>
          <a:p>
            <a:pPr marL="171450" indent="-171450">
              <a:buFont typeface="Arial" panose="020B0604020202020204" pitchFamily="34" charset="0"/>
              <a:buChar char="•"/>
            </a:pPr>
            <a:r>
              <a:rPr lang="en-GB" sz="1400" dirty="0"/>
              <a:t>Patient volume remains consistently high with </a:t>
            </a:r>
            <a:r>
              <a:rPr lang="en-GB" sz="1400" b="1" dirty="0"/>
              <a:t>10,000 patients</a:t>
            </a:r>
            <a:r>
              <a:rPr lang="en-GB" sz="1400" dirty="0"/>
              <a:t>, indicating strong demand for healthcare services. </a:t>
            </a:r>
          </a:p>
          <a:p>
            <a:pPr marL="171450" indent="-171450">
              <a:buFont typeface="Arial" panose="020B0604020202020204" pitchFamily="34" charset="0"/>
              <a:buChar char="•"/>
            </a:pPr>
            <a:r>
              <a:rPr lang="en-GB" sz="1400" dirty="0"/>
              <a:t>The number of </a:t>
            </a:r>
            <a:r>
              <a:rPr lang="en-GB" sz="1400" b="1" dirty="0"/>
              <a:t>visits matches patient count</a:t>
            </a:r>
            <a:r>
              <a:rPr lang="en-GB" sz="1400" dirty="0"/>
              <a:t>, suggesting most patients visit at least once, showing steady engagement. </a:t>
            </a:r>
          </a:p>
          <a:p>
            <a:pPr marL="171450" indent="-171450">
              <a:buFont typeface="Arial" panose="020B0604020202020204" pitchFamily="34" charset="0"/>
              <a:buChar char="•"/>
            </a:pPr>
            <a:r>
              <a:rPr lang="en-GB" sz="1400" dirty="0"/>
              <a:t>With </a:t>
            </a:r>
            <a:r>
              <a:rPr lang="en-GB" sz="1400" b="1" dirty="0"/>
              <a:t>1,000 doctors</a:t>
            </a:r>
            <a:r>
              <a:rPr lang="en-GB" sz="1400" dirty="0"/>
              <a:t>, the patient-to-doctor ratio is around </a:t>
            </a:r>
            <a:r>
              <a:rPr lang="en-GB" sz="1400" b="1" dirty="0"/>
              <a:t>10:1</a:t>
            </a:r>
            <a:r>
              <a:rPr lang="en-GB" sz="1400" dirty="0"/>
              <a:t>, which reflects manageable workload but scope for optimization. </a:t>
            </a:r>
          </a:p>
          <a:p>
            <a:pPr marL="171450" indent="-171450">
              <a:buFont typeface="Arial" panose="020B0604020202020204" pitchFamily="34" charset="0"/>
              <a:buChar char="•"/>
            </a:pPr>
            <a:r>
              <a:rPr lang="en-GB" sz="1400" dirty="0"/>
              <a:t>The </a:t>
            </a:r>
            <a:r>
              <a:rPr lang="en-GB" sz="1400" b="1" dirty="0"/>
              <a:t>average treatment cost ($524.75)</a:t>
            </a:r>
            <a:r>
              <a:rPr lang="en-GB" sz="1400" dirty="0"/>
              <a:t> indicates moderate healthcare expenses, making services relatively affordable. </a:t>
            </a:r>
          </a:p>
          <a:p>
            <a:pPr marL="171450" indent="-171450">
              <a:buFont typeface="Arial" panose="020B0604020202020204" pitchFamily="34" charset="0"/>
              <a:buChar char="•"/>
            </a:pPr>
            <a:r>
              <a:rPr lang="en-GB" sz="1400" dirty="0"/>
              <a:t>There is potential to </a:t>
            </a:r>
            <a:r>
              <a:rPr lang="en-GB" sz="1400" b="1" dirty="0"/>
              <a:t>improve efficiency in doctor allocation</a:t>
            </a:r>
            <a:r>
              <a:rPr lang="en-GB" sz="1400" dirty="0"/>
              <a:t> to reduce waiting time and enhance patient satisfaction. </a:t>
            </a:r>
          </a:p>
          <a:p>
            <a:pPr marL="171450" indent="-171450">
              <a:buFont typeface="Arial" panose="020B0604020202020204" pitchFamily="34" charset="0"/>
              <a:buChar char="•"/>
            </a:pPr>
            <a:r>
              <a:rPr lang="en-GB" sz="1400" dirty="0"/>
              <a:t>Increasing repeat visits could indicate </a:t>
            </a:r>
            <a:r>
              <a:rPr lang="en-GB" sz="1400" b="1" dirty="0"/>
              <a:t>chronic care demand or strong patient trust in services</a:t>
            </a:r>
            <a:r>
              <a:rPr lang="en-GB" sz="1400" dirty="0"/>
              <a:t>. </a:t>
            </a:r>
          </a:p>
          <a:p>
            <a:pPr marL="171450" indent="-171450">
              <a:buFont typeface="Arial" panose="020B0604020202020204" pitchFamily="34" charset="0"/>
              <a:buChar char="•"/>
            </a:pPr>
            <a:r>
              <a:rPr lang="en-GB" sz="1400" dirty="0"/>
              <a:t>Opportunity to </a:t>
            </a:r>
            <a:r>
              <a:rPr lang="en-GB" sz="1400" b="1" dirty="0" err="1"/>
              <a:t>analyze</a:t>
            </a:r>
            <a:r>
              <a:rPr lang="en-GB" sz="1400" b="1" dirty="0"/>
              <a:t> cost distribution further</a:t>
            </a:r>
            <a:r>
              <a:rPr lang="en-GB" sz="1400" dirty="0"/>
              <a:t> to identify high-expense treatments and optimize pricing.</a:t>
            </a:r>
          </a:p>
          <a:p>
            <a:pPr marL="171450" indent="-171450">
              <a:buFont typeface="Arial" panose="020B0604020202020204" pitchFamily="34" charset="0"/>
              <a:buChar char="•"/>
            </a:pPr>
            <a:endParaRPr lang="en-IN" sz="1400" dirty="0"/>
          </a:p>
        </p:txBody>
      </p:sp>
    </p:spTree>
    <p:extLst>
      <p:ext uri="{BB962C8B-B14F-4D97-AF65-F5344CB8AC3E}">
        <p14:creationId xmlns:p14="http://schemas.microsoft.com/office/powerpoint/2010/main" val="1924874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0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20040" y="91440"/>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Patient Demographics</a:t>
            </a:r>
            <a:endParaRPr lang="en-US" sz="2600" dirty="0"/>
          </a:p>
        </p:txBody>
      </p:sp>
      <p:graphicFrame>
        <p:nvGraphicFramePr>
          <p:cNvPr id="5" name="Chart 0"/>
          <p:cNvGraphicFramePr/>
          <p:nvPr/>
        </p:nvGraphicFramePr>
        <p:xfrm>
          <a:off x="274320" y="822960"/>
          <a:ext cx="384048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297680" y="82296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274320" y="3703320"/>
            <a:ext cx="8595360" cy="274320"/>
          </a:xfrm>
          <a:prstGeom prst="rect">
            <a:avLst/>
          </a:prstGeom>
          <a:noFill/>
          <a:ln/>
        </p:spPr>
        <p:txBody>
          <a:bodyPr wrap="square" lIns="0" tIns="0" rIns="0" bIns="0" rtlCol="0" anchor="ctr"/>
          <a:lstStyle/>
          <a:p>
            <a:pPr marL="0" indent="0">
              <a:buNone/>
            </a:pPr>
            <a:r>
              <a:rPr lang="en-US" sz="1300" b="1" dirty="0">
                <a:solidFill>
                  <a:srgbClr val="0A2342"/>
                </a:solidFill>
                <a:latin typeface="Trebuchet MS" pitchFamily="34" charset="0"/>
                <a:ea typeface="Trebuchet MS" pitchFamily="34" charset="-122"/>
                <a:cs typeface="Trebuchet MS" pitchFamily="34" charset="-120"/>
              </a:rPr>
              <a:t>Top States</a:t>
            </a:r>
            <a:endParaRPr lang="en-US" sz="1300" dirty="0"/>
          </a:p>
        </p:txBody>
      </p:sp>
      <p:sp>
        <p:nvSpPr>
          <p:cNvPr id="8" name="Shape 4"/>
          <p:cNvSpPr/>
          <p:nvPr/>
        </p:nvSpPr>
        <p:spPr>
          <a:xfrm>
            <a:off x="274320" y="4023360"/>
            <a:ext cx="1572768" cy="731520"/>
          </a:xfrm>
          <a:prstGeom prst="rect">
            <a:avLst/>
          </a:prstGeom>
          <a:solidFill>
            <a:srgbClr val="028090">
              <a:alpha val="20000"/>
            </a:srgbClr>
          </a:solidFill>
          <a:ln w="12700">
            <a:solidFill>
              <a:srgbClr val="028090">
                <a:alpha val="50000"/>
              </a:srgbClr>
            </a:solidFill>
            <a:prstDash val="solid"/>
          </a:ln>
        </p:spPr>
        <p:txBody>
          <a:bodyPr/>
          <a:lstStyle/>
          <a:p>
            <a:endParaRPr lang="en-IN"/>
          </a:p>
        </p:txBody>
      </p:sp>
      <p:sp>
        <p:nvSpPr>
          <p:cNvPr id="9" name="Text 5"/>
          <p:cNvSpPr/>
          <p:nvPr/>
        </p:nvSpPr>
        <p:spPr>
          <a:xfrm>
            <a:off x="274320" y="4069080"/>
            <a:ext cx="1572768" cy="274320"/>
          </a:xfrm>
          <a:prstGeom prst="rect">
            <a:avLst/>
          </a:prstGeom>
          <a:noFill/>
          <a:ln/>
        </p:spPr>
        <p:txBody>
          <a:bodyPr wrap="square" lIns="0" tIns="0" rIns="0" bIns="0"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Texas</a:t>
            </a:r>
            <a:endParaRPr lang="en-US" sz="1100" dirty="0"/>
          </a:p>
        </p:txBody>
      </p:sp>
      <p:sp>
        <p:nvSpPr>
          <p:cNvPr id="10" name="Text 6"/>
          <p:cNvSpPr/>
          <p:nvPr/>
        </p:nvSpPr>
        <p:spPr>
          <a:xfrm>
            <a:off x="274320" y="4343400"/>
            <a:ext cx="1572768" cy="274320"/>
          </a:xfrm>
          <a:prstGeom prst="rect">
            <a:avLst/>
          </a:prstGeom>
          <a:noFill/>
          <a:ln/>
        </p:spPr>
        <p:txBody>
          <a:bodyPr wrap="square" lIns="0" tIns="0" rIns="0" bIns="0" rtlCol="0" anchor="ctr"/>
          <a:lstStyle/>
          <a:p>
            <a:pPr marL="0" indent="0" algn="ctr">
              <a:buNone/>
            </a:pPr>
            <a:r>
              <a:rPr lang="en-US" sz="1300" b="1" dirty="0">
                <a:solidFill>
                  <a:srgbClr val="028090"/>
                </a:solidFill>
                <a:latin typeface="Trebuchet MS" pitchFamily="34" charset="0"/>
                <a:ea typeface="Trebuchet MS" pitchFamily="34" charset="-122"/>
                <a:cs typeface="Trebuchet MS" pitchFamily="34" charset="-120"/>
              </a:rPr>
              <a:t>20.1%</a:t>
            </a:r>
            <a:endParaRPr lang="en-US" sz="1300" dirty="0"/>
          </a:p>
        </p:txBody>
      </p:sp>
      <p:sp>
        <p:nvSpPr>
          <p:cNvPr id="11" name="Shape 7"/>
          <p:cNvSpPr/>
          <p:nvPr/>
        </p:nvSpPr>
        <p:spPr>
          <a:xfrm>
            <a:off x="2011680" y="4023360"/>
            <a:ext cx="1572768" cy="731520"/>
          </a:xfrm>
          <a:prstGeom prst="rect">
            <a:avLst/>
          </a:prstGeom>
          <a:solidFill>
            <a:srgbClr val="028090">
              <a:alpha val="20000"/>
            </a:srgbClr>
          </a:solidFill>
          <a:ln w="12700">
            <a:solidFill>
              <a:srgbClr val="028090">
                <a:alpha val="50000"/>
              </a:srgbClr>
            </a:solidFill>
            <a:prstDash val="solid"/>
          </a:ln>
        </p:spPr>
        <p:txBody>
          <a:bodyPr/>
          <a:lstStyle/>
          <a:p>
            <a:endParaRPr lang="en-IN"/>
          </a:p>
        </p:txBody>
      </p:sp>
      <p:sp>
        <p:nvSpPr>
          <p:cNvPr id="12" name="Text 8"/>
          <p:cNvSpPr/>
          <p:nvPr/>
        </p:nvSpPr>
        <p:spPr>
          <a:xfrm>
            <a:off x="2011680" y="4069080"/>
            <a:ext cx="1572768" cy="274320"/>
          </a:xfrm>
          <a:prstGeom prst="rect">
            <a:avLst/>
          </a:prstGeom>
          <a:noFill/>
          <a:ln/>
        </p:spPr>
        <p:txBody>
          <a:bodyPr wrap="square" lIns="0" tIns="0" rIns="0" bIns="0"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California</a:t>
            </a:r>
            <a:endParaRPr lang="en-US" sz="1100" dirty="0"/>
          </a:p>
        </p:txBody>
      </p:sp>
      <p:sp>
        <p:nvSpPr>
          <p:cNvPr id="13" name="Text 9"/>
          <p:cNvSpPr/>
          <p:nvPr/>
        </p:nvSpPr>
        <p:spPr>
          <a:xfrm>
            <a:off x="2011680" y="4343400"/>
            <a:ext cx="1572768" cy="274320"/>
          </a:xfrm>
          <a:prstGeom prst="rect">
            <a:avLst/>
          </a:prstGeom>
          <a:noFill/>
          <a:ln/>
        </p:spPr>
        <p:txBody>
          <a:bodyPr wrap="square" lIns="0" tIns="0" rIns="0" bIns="0" rtlCol="0" anchor="ctr"/>
          <a:lstStyle/>
          <a:p>
            <a:pPr marL="0" indent="0" algn="ctr">
              <a:buNone/>
            </a:pPr>
            <a:r>
              <a:rPr lang="en-US" sz="1300" b="1" dirty="0">
                <a:solidFill>
                  <a:srgbClr val="028090"/>
                </a:solidFill>
                <a:latin typeface="Trebuchet MS" pitchFamily="34" charset="0"/>
                <a:ea typeface="Trebuchet MS" pitchFamily="34" charset="-122"/>
                <a:cs typeface="Trebuchet MS" pitchFamily="34" charset="-120"/>
              </a:rPr>
              <a:t>20.1%</a:t>
            </a:r>
            <a:endParaRPr lang="en-US" sz="1300" dirty="0"/>
          </a:p>
        </p:txBody>
      </p:sp>
      <p:sp>
        <p:nvSpPr>
          <p:cNvPr id="14" name="Shape 10"/>
          <p:cNvSpPr/>
          <p:nvPr/>
        </p:nvSpPr>
        <p:spPr>
          <a:xfrm>
            <a:off x="3749040" y="4023360"/>
            <a:ext cx="1572768" cy="731520"/>
          </a:xfrm>
          <a:prstGeom prst="rect">
            <a:avLst/>
          </a:prstGeom>
          <a:solidFill>
            <a:srgbClr val="028090">
              <a:alpha val="20000"/>
            </a:srgbClr>
          </a:solidFill>
          <a:ln w="12700">
            <a:solidFill>
              <a:srgbClr val="028090">
                <a:alpha val="50000"/>
              </a:srgbClr>
            </a:solidFill>
            <a:prstDash val="solid"/>
          </a:ln>
        </p:spPr>
        <p:txBody>
          <a:bodyPr/>
          <a:lstStyle/>
          <a:p>
            <a:endParaRPr lang="en-IN"/>
          </a:p>
        </p:txBody>
      </p:sp>
      <p:sp>
        <p:nvSpPr>
          <p:cNvPr id="15" name="Text 11"/>
          <p:cNvSpPr/>
          <p:nvPr/>
        </p:nvSpPr>
        <p:spPr>
          <a:xfrm>
            <a:off x="3749040" y="4069080"/>
            <a:ext cx="1572768" cy="274320"/>
          </a:xfrm>
          <a:prstGeom prst="rect">
            <a:avLst/>
          </a:prstGeom>
          <a:noFill/>
          <a:ln/>
        </p:spPr>
        <p:txBody>
          <a:bodyPr wrap="square" lIns="0" tIns="0" rIns="0" bIns="0"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Florida</a:t>
            </a:r>
            <a:endParaRPr lang="en-US" sz="1100" dirty="0"/>
          </a:p>
        </p:txBody>
      </p:sp>
      <p:sp>
        <p:nvSpPr>
          <p:cNvPr id="16" name="Text 12"/>
          <p:cNvSpPr/>
          <p:nvPr/>
        </p:nvSpPr>
        <p:spPr>
          <a:xfrm>
            <a:off x="3749040" y="4343400"/>
            <a:ext cx="1572768" cy="274320"/>
          </a:xfrm>
          <a:prstGeom prst="rect">
            <a:avLst/>
          </a:prstGeom>
          <a:noFill/>
          <a:ln/>
        </p:spPr>
        <p:txBody>
          <a:bodyPr wrap="square" lIns="0" tIns="0" rIns="0" bIns="0" rtlCol="0" anchor="ctr"/>
          <a:lstStyle/>
          <a:p>
            <a:pPr marL="0" indent="0" algn="ctr">
              <a:buNone/>
            </a:pPr>
            <a:r>
              <a:rPr lang="en-US" sz="1300" b="1" dirty="0">
                <a:solidFill>
                  <a:srgbClr val="028090"/>
                </a:solidFill>
                <a:latin typeface="Trebuchet MS" pitchFamily="34" charset="0"/>
                <a:ea typeface="Trebuchet MS" pitchFamily="34" charset="-122"/>
                <a:cs typeface="Trebuchet MS" pitchFamily="34" charset="-120"/>
              </a:rPr>
              <a:t>20.1%</a:t>
            </a:r>
            <a:endParaRPr lang="en-US" sz="1300" dirty="0"/>
          </a:p>
        </p:txBody>
      </p:sp>
      <p:sp>
        <p:nvSpPr>
          <p:cNvPr id="17" name="Shape 13"/>
          <p:cNvSpPr/>
          <p:nvPr/>
        </p:nvSpPr>
        <p:spPr>
          <a:xfrm>
            <a:off x="5486400" y="4023360"/>
            <a:ext cx="1572768" cy="731520"/>
          </a:xfrm>
          <a:prstGeom prst="rect">
            <a:avLst/>
          </a:prstGeom>
          <a:solidFill>
            <a:srgbClr val="028090">
              <a:alpha val="20000"/>
            </a:srgbClr>
          </a:solidFill>
          <a:ln w="12700">
            <a:solidFill>
              <a:srgbClr val="028090">
                <a:alpha val="50000"/>
              </a:srgbClr>
            </a:solidFill>
            <a:prstDash val="solid"/>
          </a:ln>
        </p:spPr>
        <p:txBody>
          <a:bodyPr/>
          <a:lstStyle/>
          <a:p>
            <a:endParaRPr lang="en-IN"/>
          </a:p>
        </p:txBody>
      </p:sp>
      <p:sp>
        <p:nvSpPr>
          <p:cNvPr id="18" name="Text 14"/>
          <p:cNvSpPr/>
          <p:nvPr/>
        </p:nvSpPr>
        <p:spPr>
          <a:xfrm>
            <a:off x="5486400" y="4069080"/>
            <a:ext cx="1572768" cy="274320"/>
          </a:xfrm>
          <a:prstGeom prst="rect">
            <a:avLst/>
          </a:prstGeom>
          <a:noFill/>
          <a:ln/>
        </p:spPr>
        <p:txBody>
          <a:bodyPr wrap="square" lIns="0" tIns="0" rIns="0" bIns="0"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Illinois</a:t>
            </a:r>
            <a:endParaRPr lang="en-US" sz="1100" dirty="0"/>
          </a:p>
        </p:txBody>
      </p:sp>
      <p:sp>
        <p:nvSpPr>
          <p:cNvPr id="19" name="Text 15"/>
          <p:cNvSpPr/>
          <p:nvPr/>
        </p:nvSpPr>
        <p:spPr>
          <a:xfrm>
            <a:off x="5486400" y="4343400"/>
            <a:ext cx="1572768" cy="274320"/>
          </a:xfrm>
          <a:prstGeom prst="rect">
            <a:avLst/>
          </a:prstGeom>
          <a:noFill/>
          <a:ln/>
        </p:spPr>
        <p:txBody>
          <a:bodyPr wrap="square" lIns="0" tIns="0" rIns="0" bIns="0" rtlCol="0" anchor="ctr"/>
          <a:lstStyle/>
          <a:p>
            <a:pPr marL="0" indent="0" algn="ctr">
              <a:buNone/>
            </a:pPr>
            <a:r>
              <a:rPr lang="en-US" sz="1300" b="1" dirty="0">
                <a:solidFill>
                  <a:srgbClr val="028090"/>
                </a:solidFill>
                <a:latin typeface="Trebuchet MS" pitchFamily="34" charset="0"/>
                <a:ea typeface="Trebuchet MS" pitchFamily="34" charset="-122"/>
                <a:cs typeface="Trebuchet MS" pitchFamily="34" charset="-120"/>
              </a:rPr>
              <a:t>20.0%</a:t>
            </a:r>
            <a:endParaRPr lang="en-US" sz="1300" dirty="0"/>
          </a:p>
        </p:txBody>
      </p:sp>
      <p:sp>
        <p:nvSpPr>
          <p:cNvPr id="20" name="Shape 16"/>
          <p:cNvSpPr/>
          <p:nvPr/>
        </p:nvSpPr>
        <p:spPr>
          <a:xfrm>
            <a:off x="7223760" y="4023360"/>
            <a:ext cx="1572768" cy="731520"/>
          </a:xfrm>
          <a:prstGeom prst="rect">
            <a:avLst/>
          </a:prstGeom>
          <a:solidFill>
            <a:srgbClr val="028090">
              <a:alpha val="20000"/>
            </a:srgbClr>
          </a:solidFill>
          <a:ln w="12700">
            <a:solidFill>
              <a:srgbClr val="028090">
                <a:alpha val="50000"/>
              </a:srgbClr>
            </a:solidFill>
            <a:prstDash val="solid"/>
          </a:ln>
        </p:spPr>
        <p:txBody>
          <a:bodyPr/>
          <a:lstStyle/>
          <a:p>
            <a:endParaRPr lang="en-IN"/>
          </a:p>
        </p:txBody>
      </p:sp>
      <p:sp>
        <p:nvSpPr>
          <p:cNvPr id="21" name="Text 17"/>
          <p:cNvSpPr/>
          <p:nvPr/>
        </p:nvSpPr>
        <p:spPr>
          <a:xfrm>
            <a:off x="7223760" y="4069080"/>
            <a:ext cx="1572768" cy="274320"/>
          </a:xfrm>
          <a:prstGeom prst="rect">
            <a:avLst/>
          </a:prstGeom>
          <a:noFill/>
          <a:ln/>
        </p:spPr>
        <p:txBody>
          <a:bodyPr wrap="square" lIns="0" tIns="0" rIns="0" bIns="0" rtlCol="0" anchor="ctr"/>
          <a:lstStyle/>
          <a:p>
            <a:pPr marL="0" indent="0" algn="ctr">
              <a:buNone/>
            </a:pPr>
            <a:r>
              <a:rPr lang="en-US" sz="1100" b="1" dirty="0">
                <a:solidFill>
                  <a:srgbClr val="0A2342"/>
                </a:solidFill>
                <a:latin typeface="Calibri" pitchFamily="34" charset="0"/>
                <a:ea typeface="Calibri" pitchFamily="34" charset="-122"/>
                <a:cs typeface="Calibri" pitchFamily="34" charset="-120"/>
              </a:rPr>
              <a:t>New York</a:t>
            </a:r>
            <a:endParaRPr lang="en-US" sz="1100" dirty="0"/>
          </a:p>
        </p:txBody>
      </p:sp>
      <p:sp>
        <p:nvSpPr>
          <p:cNvPr id="22" name="Text 18"/>
          <p:cNvSpPr/>
          <p:nvPr/>
        </p:nvSpPr>
        <p:spPr>
          <a:xfrm>
            <a:off x="7223760" y="4343400"/>
            <a:ext cx="1572768" cy="274320"/>
          </a:xfrm>
          <a:prstGeom prst="rect">
            <a:avLst/>
          </a:prstGeom>
          <a:noFill/>
          <a:ln/>
        </p:spPr>
        <p:txBody>
          <a:bodyPr wrap="square" lIns="0" tIns="0" rIns="0" bIns="0" rtlCol="0" anchor="ctr"/>
          <a:lstStyle/>
          <a:p>
            <a:pPr marL="0" indent="0" algn="ctr">
              <a:buNone/>
            </a:pPr>
            <a:r>
              <a:rPr lang="en-US" sz="1300" b="1" dirty="0">
                <a:solidFill>
                  <a:srgbClr val="028090"/>
                </a:solidFill>
                <a:latin typeface="Trebuchet MS" pitchFamily="34" charset="0"/>
                <a:ea typeface="Trebuchet MS" pitchFamily="34" charset="-122"/>
                <a:cs typeface="Trebuchet MS" pitchFamily="34" charset="-120"/>
              </a:rPr>
              <a:t>19.8%</a:t>
            </a:r>
            <a:endParaRPr lang="en-US" sz="1300" dirty="0"/>
          </a:p>
        </p:txBody>
      </p:sp>
      <p:sp>
        <p:nvSpPr>
          <p:cNvPr id="23" name="Text 19"/>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0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20040" y="91440"/>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Visit Analysis</a:t>
            </a:r>
            <a:endParaRPr lang="en-US" sz="2600" dirty="0"/>
          </a:p>
        </p:txBody>
      </p:sp>
      <p:graphicFrame>
        <p:nvGraphicFramePr>
          <p:cNvPr id="5" name="Chart 0"/>
          <p:cNvGraphicFramePr/>
          <p:nvPr/>
        </p:nvGraphicFramePr>
        <p:xfrm>
          <a:off x="274320" y="822960"/>
          <a:ext cx="411480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274320" y="3310128"/>
            <a:ext cx="41148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*2025 data partial (Jan–Mar)</a:t>
            </a:r>
            <a:endParaRPr lang="en-US" sz="900" dirty="0"/>
          </a:p>
        </p:txBody>
      </p:sp>
      <p:graphicFrame>
        <p:nvGraphicFramePr>
          <p:cNvPr id="7" name="Chart 1"/>
          <p:cNvGraphicFramePr/>
          <p:nvPr/>
        </p:nvGraphicFramePr>
        <p:xfrm>
          <a:off x="4572000" y="822960"/>
          <a:ext cx="429768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274320" y="3611880"/>
            <a:ext cx="8595360" cy="274320"/>
          </a:xfrm>
          <a:prstGeom prst="rect">
            <a:avLst/>
          </a:prstGeom>
          <a:noFill/>
          <a:ln/>
        </p:spPr>
        <p:txBody>
          <a:bodyPr wrap="square" lIns="0" tIns="0" rIns="0" bIns="0" rtlCol="0" anchor="ctr"/>
          <a:lstStyle/>
          <a:p>
            <a:pPr marL="0" indent="0">
              <a:buNone/>
            </a:pPr>
            <a:r>
              <a:rPr lang="en-US" sz="1300" b="1" dirty="0">
                <a:solidFill>
                  <a:srgbClr val="0A2342"/>
                </a:solidFill>
                <a:latin typeface="Trebuchet MS" pitchFamily="34" charset="0"/>
                <a:ea typeface="Trebuchet MS" pitchFamily="34" charset="-122"/>
                <a:cs typeface="Trebuchet MS" pitchFamily="34" charset="-120"/>
              </a:rPr>
              <a:t>Follow-Up Required</a:t>
            </a:r>
            <a:endParaRPr lang="en-US" sz="1300" dirty="0"/>
          </a:p>
        </p:txBody>
      </p:sp>
      <p:sp>
        <p:nvSpPr>
          <p:cNvPr id="9" name="Shape 5"/>
          <p:cNvSpPr/>
          <p:nvPr/>
        </p:nvSpPr>
        <p:spPr>
          <a:xfrm>
            <a:off x="274320" y="3931920"/>
            <a:ext cx="4023360" cy="777240"/>
          </a:xfrm>
          <a:prstGeom prst="rect">
            <a:avLst/>
          </a:prstGeom>
          <a:solidFill>
            <a:srgbClr val="2DC653">
              <a:alpha val="20000"/>
            </a:srgbClr>
          </a:solidFill>
          <a:ln w="12700">
            <a:solidFill>
              <a:srgbClr val="2DC653">
                <a:alpha val="60000"/>
              </a:srgbClr>
            </a:solidFill>
            <a:prstDash val="solid"/>
          </a:ln>
        </p:spPr>
        <p:txBody>
          <a:bodyPr/>
          <a:lstStyle/>
          <a:p>
            <a:endParaRPr lang="en-IN"/>
          </a:p>
        </p:txBody>
      </p:sp>
      <p:sp>
        <p:nvSpPr>
          <p:cNvPr id="10" name="Shape 6"/>
          <p:cNvSpPr/>
          <p:nvPr/>
        </p:nvSpPr>
        <p:spPr>
          <a:xfrm>
            <a:off x="274320" y="3931920"/>
            <a:ext cx="54864" cy="777240"/>
          </a:xfrm>
          <a:prstGeom prst="rect">
            <a:avLst/>
          </a:prstGeom>
          <a:solidFill>
            <a:srgbClr val="2DC653"/>
          </a:solidFill>
          <a:ln w="12700">
            <a:solidFill>
              <a:srgbClr val="2DC653"/>
            </a:solidFill>
            <a:prstDash val="solid"/>
          </a:ln>
        </p:spPr>
        <p:txBody>
          <a:bodyPr/>
          <a:lstStyle/>
          <a:p>
            <a:endParaRPr lang="en-IN"/>
          </a:p>
        </p:txBody>
      </p:sp>
      <p:sp>
        <p:nvSpPr>
          <p:cNvPr id="11" name="Text 7"/>
          <p:cNvSpPr/>
          <p:nvPr/>
        </p:nvSpPr>
        <p:spPr>
          <a:xfrm>
            <a:off x="411480" y="3977640"/>
            <a:ext cx="274320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No Follow-Up</a:t>
            </a:r>
            <a:endParaRPr lang="en-US" sz="1200" dirty="0"/>
          </a:p>
        </p:txBody>
      </p:sp>
      <p:sp>
        <p:nvSpPr>
          <p:cNvPr id="12" name="Text 8"/>
          <p:cNvSpPr/>
          <p:nvPr/>
        </p:nvSpPr>
        <p:spPr>
          <a:xfrm>
            <a:off x="411480" y="4251960"/>
            <a:ext cx="347472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5,016 visits (50.2%)</a:t>
            </a:r>
            <a:endParaRPr lang="en-US" sz="1100" dirty="0"/>
          </a:p>
        </p:txBody>
      </p:sp>
      <p:sp>
        <p:nvSpPr>
          <p:cNvPr id="13" name="Shape 9"/>
          <p:cNvSpPr/>
          <p:nvPr/>
        </p:nvSpPr>
        <p:spPr>
          <a:xfrm>
            <a:off x="4572000" y="3931920"/>
            <a:ext cx="4023360" cy="777240"/>
          </a:xfrm>
          <a:prstGeom prst="rect">
            <a:avLst/>
          </a:prstGeom>
          <a:solidFill>
            <a:srgbClr val="F4A261">
              <a:alpha val="20000"/>
            </a:srgbClr>
          </a:solidFill>
          <a:ln w="12700">
            <a:solidFill>
              <a:srgbClr val="F4A261">
                <a:alpha val="60000"/>
              </a:srgbClr>
            </a:solidFill>
            <a:prstDash val="solid"/>
          </a:ln>
        </p:spPr>
        <p:txBody>
          <a:bodyPr/>
          <a:lstStyle/>
          <a:p>
            <a:endParaRPr lang="en-IN"/>
          </a:p>
        </p:txBody>
      </p:sp>
      <p:sp>
        <p:nvSpPr>
          <p:cNvPr id="14" name="Shape 10"/>
          <p:cNvSpPr/>
          <p:nvPr/>
        </p:nvSpPr>
        <p:spPr>
          <a:xfrm>
            <a:off x="4572000" y="3931920"/>
            <a:ext cx="54864" cy="777240"/>
          </a:xfrm>
          <a:prstGeom prst="rect">
            <a:avLst/>
          </a:prstGeom>
          <a:solidFill>
            <a:srgbClr val="F4A261"/>
          </a:solidFill>
          <a:ln w="12700">
            <a:solidFill>
              <a:srgbClr val="F4A261"/>
            </a:solidFill>
            <a:prstDash val="solid"/>
          </a:ln>
        </p:spPr>
        <p:txBody>
          <a:bodyPr/>
          <a:lstStyle/>
          <a:p>
            <a:endParaRPr lang="en-IN"/>
          </a:p>
        </p:txBody>
      </p:sp>
      <p:sp>
        <p:nvSpPr>
          <p:cNvPr id="15" name="Text 11"/>
          <p:cNvSpPr/>
          <p:nvPr/>
        </p:nvSpPr>
        <p:spPr>
          <a:xfrm>
            <a:off x="4709160" y="3977640"/>
            <a:ext cx="274320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Follow-Up Required</a:t>
            </a:r>
            <a:endParaRPr lang="en-US" sz="1200" dirty="0"/>
          </a:p>
        </p:txBody>
      </p:sp>
      <p:sp>
        <p:nvSpPr>
          <p:cNvPr id="16" name="Text 12"/>
          <p:cNvSpPr/>
          <p:nvPr/>
        </p:nvSpPr>
        <p:spPr>
          <a:xfrm>
            <a:off x="4709160" y="4251960"/>
            <a:ext cx="347472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4,984 visits (49.8%)</a:t>
            </a:r>
            <a:endParaRPr lang="en-US" sz="1100" dirty="0"/>
          </a:p>
        </p:txBody>
      </p:sp>
      <p:sp>
        <p:nvSpPr>
          <p:cNvPr id="17" name="Text 13"/>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0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20040" y="91440"/>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Diagnosis &amp; Chronic Conditions</a:t>
            </a:r>
            <a:endParaRPr lang="en-US" sz="2600" dirty="0"/>
          </a:p>
        </p:txBody>
      </p:sp>
      <p:graphicFrame>
        <p:nvGraphicFramePr>
          <p:cNvPr id="5" name="Chart 0"/>
          <p:cNvGraphicFramePr/>
          <p:nvPr/>
        </p:nvGraphicFramePr>
        <p:xfrm>
          <a:off x="274320" y="82296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532120" y="822960"/>
            <a:ext cx="3383280" cy="320040"/>
          </a:xfrm>
          <a:prstGeom prst="rect">
            <a:avLst/>
          </a:prstGeom>
          <a:noFill/>
          <a:ln/>
        </p:spPr>
        <p:txBody>
          <a:bodyPr wrap="square" lIns="0" tIns="0" rIns="0" bIns="0" rtlCol="0" anchor="ctr"/>
          <a:lstStyle/>
          <a:p>
            <a:pPr marL="0" indent="0">
              <a:buNone/>
            </a:pPr>
            <a:r>
              <a:rPr lang="en-US" sz="1300" b="1" dirty="0">
                <a:solidFill>
                  <a:srgbClr val="0A2342"/>
                </a:solidFill>
                <a:latin typeface="Trebuchet MS" pitchFamily="34" charset="0"/>
                <a:ea typeface="Trebuchet MS" pitchFamily="34" charset="-122"/>
                <a:cs typeface="Trebuchet MS" pitchFamily="34" charset="-120"/>
              </a:rPr>
              <a:t>Chronic Conditions Prevalence</a:t>
            </a:r>
            <a:endParaRPr lang="en-US" sz="1300" dirty="0"/>
          </a:p>
        </p:txBody>
      </p:sp>
      <p:sp>
        <p:nvSpPr>
          <p:cNvPr id="7" name="Shape 4"/>
          <p:cNvSpPr/>
          <p:nvPr/>
        </p:nvSpPr>
        <p:spPr>
          <a:xfrm>
            <a:off x="5577840" y="1280160"/>
            <a:ext cx="3291840" cy="502920"/>
          </a:xfrm>
          <a:prstGeom prst="rect">
            <a:avLst/>
          </a:prstGeom>
          <a:solidFill>
            <a:srgbClr val="F0F6F8"/>
          </a:solidFill>
          <a:ln w="12700">
            <a:solidFill>
              <a:srgbClr val="D1E8EC"/>
            </a:solidFill>
            <a:prstDash val="solid"/>
          </a:ln>
        </p:spPr>
        <p:txBody>
          <a:bodyPr/>
          <a:lstStyle/>
          <a:p>
            <a:endParaRPr lang="en-IN"/>
          </a:p>
        </p:txBody>
      </p:sp>
      <p:sp>
        <p:nvSpPr>
          <p:cNvPr id="8" name="Shape 5"/>
          <p:cNvSpPr/>
          <p:nvPr/>
        </p:nvSpPr>
        <p:spPr>
          <a:xfrm>
            <a:off x="5577840" y="1280160"/>
            <a:ext cx="3130296" cy="502920"/>
          </a:xfrm>
          <a:prstGeom prst="rect">
            <a:avLst/>
          </a:prstGeom>
          <a:solidFill>
            <a:srgbClr val="0A2342">
              <a:alpha val="80000"/>
            </a:srgbClr>
          </a:solidFill>
          <a:ln w="12700">
            <a:solidFill>
              <a:srgbClr val="0A2342">
                <a:alpha val="80000"/>
              </a:srgbClr>
            </a:solidFill>
            <a:prstDash val="solid"/>
          </a:ln>
        </p:spPr>
        <p:txBody>
          <a:bodyPr/>
          <a:lstStyle/>
          <a:p>
            <a:endParaRPr lang="en-IN"/>
          </a:p>
        </p:txBody>
      </p:sp>
      <p:sp>
        <p:nvSpPr>
          <p:cNvPr id="9" name="Text 6"/>
          <p:cNvSpPr/>
          <p:nvPr/>
        </p:nvSpPr>
        <p:spPr>
          <a:xfrm>
            <a:off x="5623560" y="1353312"/>
            <a:ext cx="18288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Hypertension</a:t>
            </a:r>
            <a:endParaRPr lang="en-US" sz="1200" dirty="0"/>
          </a:p>
        </p:txBody>
      </p:sp>
      <p:sp>
        <p:nvSpPr>
          <p:cNvPr id="10" name="Text 7"/>
          <p:cNvSpPr/>
          <p:nvPr/>
        </p:nvSpPr>
        <p:spPr>
          <a:xfrm>
            <a:off x="7543800" y="1353312"/>
            <a:ext cx="1280160" cy="320040"/>
          </a:xfrm>
          <a:prstGeom prst="rect">
            <a:avLst/>
          </a:prstGeom>
          <a:noFill/>
          <a:ln/>
        </p:spPr>
        <p:txBody>
          <a:bodyPr wrap="square" lIns="0" tIns="0" rIns="0" bIns="0" rtlCol="0" anchor="ctr"/>
          <a:lstStyle/>
          <a:p>
            <a:pPr marL="0" indent="0" algn="r">
              <a:buNone/>
            </a:pPr>
            <a:r>
              <a:rPr lang="en-US" sz="1100" dirty="0">
                <a:solidFill>
                  <a:srgbClr val="1E293B"/>
                </a:solidFill>
                <a:latin typeface="Calibri" pitchFamily="34" charset="0"/>
                <a:ea typeface="Calibri" pitchFamily="34" charset="-122"/>
                <a:cs typeface="Calibri" pitchFamily="34" charset="-120"/>
              </a:rPr>
              <a:t>2,054 (20.5%)</a:t>
            </a:r>
            <a:endParaRPr lang="en-US" sz="1100" dirty="0"/>
          </a:p>
        </p:txBody>
      </p:sp>
      <p:sp>
        <p:nvSpPr>
          <p:cNvPr id="11" name="Shape 8"/>
          <p:cNvSpPr/>
          <p:nvPr/>
        </p:nvSpPr>
        <p:spPr>
          <a:xfrm>
            <a:off x="5577840" y="1947672"/>
            <a:ext cx="3291840" cy="502920"/>
          </a:xfrm>
          <a:prstGeom prst="rect">
            <a:avLst/>
          </a:prstGeom>
          <a:solidFill>
            <a:srgbClr val="F0F6F8"/>
          </a:solidFill>
          <a:ln w="12700">
            <a:solidFill>
              <a:srgbClr val="D1E8EC"/>
            </a:solidFill>
            <a:prstDash val="solid"/>
          </a:ln>
        </p:spPr>
        <p:txBody>
          <a:bodyPr/>
          <a:lstStyle/>
          <a:p>
            <a:endParaRPr lang="en-IN"/>
          </a:p>
        </p:txBody>
      </p:sp>
      <p:sp>
        <p:nvSpPr>
          <p:cNvPr id="12" name="Shape 9"/>
          <p:cNvSpPr/>
          <p:nvPr/>
        </p:nvSpPr>
        <p:spPr>
          <a:xfrm>
            <a:off x="5577840" y="1947672"/>
            <a:ext cx="3093720" cy="502920"/>
          </a:xfrm>
          <a:prstGeom prst="rect">
            <a:avLst/>
          </a:prstGeom>
          <a:solidFill>
            <a:srgbClr val="028090">
              <a:alpha val="80000"/>
            </a:srgbClr>
          </a:solidFill>
          <a:ln w="12700">
            <a:solidFill>
              <a:srgbClr val="028090">
                <a:alpha val="80000"/>
              </a:srgbClr>
            </a:solidFill>
            <a:prstDash val="solid"/>
          </a:ln>
        </p:spPr>
        <p:txBody>
          <a:bodyPr/>
          <a:lstStyle/>
          <a:p>
            <a:endParaRPr lang="en-IN"/>
          </a:p>
        </p:txBody>
      </p:sp>
      <p:sp>
        <p:nvSpPr>
          <p:cNvPr id="13" name="Text 10"/>
          <p:cNvSpPr/>
          <p:nvPr/>
        </p:nvSpPr>
        <p:spPr>
          <a:xfrm>
            <a:off x="5623560" y="2020824"/>
            <a:ext cx="18288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Diabetes</a:t>
            </a:r>
            <a:endParaRPr lang="en-US" sz="1200" dirty="0"/>
          </a:p>
        </p:txBody>
      </p:sp>
      <p:sp>
        <p:nvSpPr>
          <p:cNvPr id="14" name="Text 11"/>
          <p:cNvSpPr/>
          <p:nvPr/>
        </p:nvSpPr>
        <p:spPr>
          <a:xfrm>
            <a:off x="7543800" y="2020824"/>
            <a:ext cx="1280160" cy="320040"/>
          </a:xfrm>
          <a:prstGeom prst="rect">
            <a:avLst/>
          </a:prstGeom>
          <a:noFill/>
          <a:ln/>
        </p:spPr>
        <p:txBody>
          <a:bodyPr wrap="square" lIns="0" tIns="0" rIns="0" bIns="0" rtlCol="0" anchor="ctr"/>
          <a:lstStyle/>
          <a:p>
            <a:pPr marL="0" indent="0" algn="r">
              <a:buNone/>
            </a:pPr>
            <a:r>
              <a:rPr lang="en-US" sz="1100" dirty="0">
                <a:solidFill>
                  <a:srgbClr val="1E293B"/>
                </a:solidFill>
                <a:latin typeface="Calibri" pitchFamily="34" charset="0"/>
                <a:ea typeface="Calibri" pitchFamily="34" charset="-122"/>
                <a:cs typeface="Calibri" pitchFamily="34" charset="-120"/>
              </a:rPr>
              <a:t>2,030 (20.3%)</a:t>
            </a:r>
            <a:endParaRPr lang="en-US" sz="1100" dirty="0"/>
          </a:p>
        </p:txBody>
      </p:sp>
      <p:sp>
        <p:nvSpPr>
          <p:cNvPr id="15" name="Shape 12"/>
          <p:cNvSpPr/>
          <p:nvPr/>
        </p:nvSpPr>
        <p:spPr>
          <a:xfrm>
            <a:off x="5577840" y="2615184"/>
            <a:ext cx="3291840" cy="502920"/>
          </a:xfrm>
          <a:prstGeom prst="rect">
            <a:avLst/>
          </a:prstGeom>
          <a:solidFill>
            <a:srgbClr val="F0F6F8"/>
          </a:solidFill>
          <a:ln w="12700">
            <a:solidFill>
              <a:srgbClr val="D1E8EC"/>
            </a:solidFill>
            <a:prstDash val="solid"/>
          </a:ln>
        </p:spPr>
        <p:txBody>
          <a:bodyPr/>
          <a:lstStyle/>
          <a:p>
            <a:endParaRPr lang="en-IN"/>
          </a:p>
        </p:txBody>
      </p:sp>
      <p:sp>
        <p:nvSpPr>
          <p:cNvPr id="16" name="Shape 13"/>
          <p:cNvSpPr/>
          <p:nvPr/>
        </p:nvSpPr>
        <p:spPr>
          <a:xfrm>
            <a:off x="5577840" y="2615184"/>
            <a:ext cx="3032760" cy="502920"/>
          </a:xfrm>
          <a:prstGeom prst="rect">
            <a:avLst/>
          </a:prstGeom>
          <a:solidFill>
            <a:srgbClr val="00A896">
              <a:alpha val="80000"/>
            </a:srgbClr>
          </a:solidFill>
          <a:ln w="12700">
            <a:solidFill>
              <a:srgbClr val="00A896">
                <a:alpha val="80000"/>
              </a:srgbClr>
            </a:solidFill>
            <a:prstDash val="solid"/>
          </a:ln>
        </p:spPr>
        <p:txBody>
          <a:bodyPr/>
          <a:lstStyle/>
          <a:p>
            <a:endParaRPr lang="en-IN"/>
          </a:p>
        </p:txBody>
      </p:sp>
      <p:sp>
        <p:nvSpPr>
          <p:cNvPr id="17" name="Text 14"/>
          <p:cNvSpPr/>
          <p:nvPr/>
        </p:nvSpPr>
        <p:spPr>
          <a:xfrm>
            <a:off x="5623560" y="2688336"/>
            <a:ext cx="18288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Asthma</a:t>
            </a:r>
            <a:endParaRPr lang="en-US" sz="1200" dirty="0"/>
          </a:p>
        </p:txBody>
      </p:sp>
      <p:sp>
        <p:nvSpPr>
          <p:cNvPr id="18" name="Text 15"/>
          <p:cNvSpPr/>
          <p:nvPr/>
        </p:nvSpPr>
        <p:spPr>
          <a:xfrm>
            <a:off x="7543800" y="2688336"/>
            <a:ext cx="1280160" cy="320040"/>
          </a:xfrm>
          <a:prstGeom prst="rect">
            <a:avLst/>
          </a:prstGeom>
          <a:noFill/>
          <a:ln/>
        </p:spPr>
        <p:txBody>
          <a:bodyPr wrap="square" lIns="0" tIns="0" rIns="0" bIns="0" rtlCol="0" anchor="ctr"/>
          <a:lstStyle/>
          <a:p>
            <a:pPr marL="0" indent="0" algn="r">
              <a:buNone/>
            </a:pPr>
            <a:r>
              <a:rPr lang="en-US" sz="1100" dirty="0">
                <a:solidFill>
                  <a:srgbClr val="1E293B"/>
                </a:solidFill>
                <a:latin typeface="Calibri" pitchFamily="34" charset="0"/>
                <a:ea typeface="Calibri" pitchFamily="34" charset="-122"/>
                <a:cs typeface="Calibri" pitchFamily="34" charset="-120"/>
              </a:rPr>
              <a:t>1,990 (19.9%)</a:t>
            </a:r>
            <a:endParaRPr lang="en-US" sz="1100" dirty="0"/>
          </a:p>
        </p:txBody>
      </p:sp>
      <p:sp>
        <p:nvSpPr>
          <p:cNvPr id="19" name="Shape 16"/>
          <p:cNvSpPr/>
          <p:nvPr/>
        </p:nvSpPr>
        <p:spPr>
          <a:xfrm>
            <a:off x="5577840" y="3282696"/>
            <a:ext cx="3291840" cy="502920"/>
          </a:xfrm>
          <a:prstGeom prst="rect">
            <a:avLst/>
          </a:prstGeom>
          <a:solidFill>
            <a:srgbClr val="F0F6F8"/>
          </a:solidFill>
          <a:ln w="12700">
            <a:solidFill>
              <a:srgbClr val="D1E8EC"/>
            </a:solidFill>
            <a:prstDash val="solid"/>
          </a:ln>
        </p:spPr>
        <p:txBody>
          <a:bodyPr/>
          <a:lstStyle/>
          <a:p>
            <a:endParaRPr lang="en-IN"/>
          </a:p>
        </p:txBody>
      </p:sp>
      <p:sp>
        <p:nvSpPr>
          <p:cNvPr id="20" name="Shape 17"/>
          <p:cNvSpPr/>
          <p:nvPr/>
        </p:nvSpPr>
        <p:spPr>
          <a:xfrm>
            <a:off x="5577840" y="3282696"/>
            <a:ext cx="2988564" cy="502920"/>
          </a:xfrm>
          <a:prstGeom prst="rect">
            <a:avLst/>
          </a:prstGeom>
          <a:solidFill>
            <a:srgbClr val="02C39A">
              <a:alpha val="80000"/>
            </a:srgbClr>
          </a:solidFill>
          <a:ln w="12700">
            <a:solidFill>
              <a:srgbClr val="02C39A">
                <a:alpha val="80000"/>
              </a:srgbClr>
            </a:solidFill>
            <a:prstDash val="solid"/>
          </a:ln>
        </p:spPr>
        <p:txBody>
          <a:bodyPr/>
          <a:lstStyle/>
          <a:p>
            <a:endParaRPr lang="en-IN"/>
          </a:p>
        </p:txBody>
      </p:sp>
      <p:sp>
        <p:nvSpPr>
          <p:cNvPr id="21" name="Text 18"/>
          <p:cNvSpPr/>
          <p:nvPr/>
        </p:nvSpPr>
        <p:spPr>
          <a:xfrm>
            <a:off x="5623560" y="3355848"/>
            <a:ext cx="18288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Arthritis</a:t>
            </a:r>
            <a:endParaRPr lang="en-US" sz="1200" dirty="0"/>
          </a:p>
        </p:txBody>
      </p:sp>
      <p:sp>
        <p:nvSpPr>
          <p:cNvPr id="22" name="Text 19"/>
          <p:cNvSpPr/>
          <p:nvPr/>
        </p:nvSpPr>
        <p:spPr>
          <a:xfrm>
            <a:off x="7543800" y="3355848"/>
            <a:ext cx="1280160" cy="320040"/>
          </a:xfrm>
          <a:prstGeom prst="rect">
            <a:avLst/>
          </a:prstGeom>
          <a:noFill/>
          <a:ln/>
        </p:spPr>
        <p:txBody>
          <a:bodyPr wrap="square" lIns="0" tIns="0" rIns="0" bIns="0" rtlCol="0" anchor="ctr"/>
          <a:lstStyle/>
          <a:p>
            <a:pPr marL="0" indent="0" algn="r">
              <a:buNone/>
            </a:pPr>
            <a:r>
              <a:rPr lang="en-US" sz="1100" dirty="0">
                <a:solidFill>
                  <a:srgbClr val="1E293B"/>
                </a:solidFill>
                <a:latin typeface="Calibri" pitchFamily="34" charset="0"/>
                <a:ea typeface="Calibri" pitchFamily="34" charset="-122"/>
                <a:cs typeface="Calibri" pitchFamily="34" charset="-120"/>
              </a:rPr>
              <a:t>1,961 (19.6%)</a:t>
            </a:r>
            <a:endParaRPr lang="en-US" sz="1100" dirty="0"/>
          </a:p>
        </p:txBody>
      </p:sp>
      <p:sp>
        <p:nvSpPr>
          <p:cNvPr id="23" name="Shape 20"/>
          <p:cNvSpPr/>
          <p:nvPr/>
        </p:nvSpPr>
        <p:spPr>
          <a:xfrm>
            <a:off x="5532120" y="4041648"/>
            <a:ext cx="3291840" cy="685800"/>
          </a:xfrm>
          <a:prstGeom prst="rect">
            <a:avLst/>
          </a:prstGeom>
          <a:solidFill>
            <a:srgbClr val="0A2342">
              <a:alpha val="85000"/>
            </a:srgbClr>
          </a:solidFill>
          <a:ln w="12700">
            <a:solidFill>
              <a:srgbClr val="0A2342">
                <a:alpha val="70000"/>
              </a:srgbClr>
            </a:solidFill>
            <a:prstDash val="solid"/>
          </a:ln>
        </p:spPr>
        <p:txBody>
          <a:bodyPr/>
          <a:lstStyle/>
          <a:p>
            <a:endParaRPr lang="en-IN"/>
          </a:p>
        </p:txBody>
      </p:sp>
      <p:sp>
        <p:nvSpPr>
          <p:cNvPr id="24" name="Text 21"/>
          <p:cNvSpPr/>
          <p:nvPr/>
        </p:nvSpPr>
        <p:spPr>
          <a:xfrm>
            <a:off x="5577840" y="4087368"/>
            <a:ext cx="3200400" cy="59436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Migraine is the most common diagnosis (20.4%) while nearly 20% of visits resulted in a 'Healthy' outcome — a positive indicator.</a:t>
            </a:r>
            <a:endParaRPr lang="en-US" sz="1000" dirty="0"/>
          </a:p>
        </p:txBody>
      </p:sp>
      <p:sp>
        <p:nvSpPr>
          <p:cNvPr id="25" name="Text 22"/>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0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20040" y="91440"/>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Treatment Analysis</a:t>
            </a:r>
            <a:endParaRPr lang="en-US" sz="2600" dirty="0"/>
          </a:p>
        </p:txBody>
      </p:sp>
      <p:graphicFrame>
        <p:nvGraphicFramePr>
          <p:cNvPr id="5" name="Chart 0"/>
          <p:cNvGraphicFramePr/>
          <p:nvPr/>
        </p:nvGraphicFramePr>
        <p:xfrm>
          <a:off x="274320" y="822960"/>
          <a:ext cx="41148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72000" y="822960"/>
          <a:ext cx="429768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274320" y="3749040"/>
            <a:ext cx="54864" cy="822960"/>
          </a:xfrm>
          <a:prstGeom prst="rect">
            <a:avLst/>
          </a:prstGeom>
          <a:solidFill>
            <a:srgbClr val="028090"/>
          </a:solidFill>
          <a:ln w="12700">
            <a:solidFill>
              <a:srgbClr val="028090"/>
            </a:solidFill>
            <a:prstDash val="solid"/>
          </a:ln>
        </p:spPr>
        <p:txBody>
          <a:bodyPr/>
          <a:lstStyle/>
          <a:p>
            <a:endParaRPr lang="en-IN"/>
          </a:p>
        </p:txBody>
      </p:sp>
      <p:grpSp>
        <p:nvGrpSpPr>
          <p:cNvPr id="20" name="Group 19">
            <a:extLst>
              <a:ext uri="{FF2B5EF4-FFF2-40B4-BE49-F238E27FC236}">
                <a16:creationId xmlns:a16="http://schemas.microsoft.com/office/drawing/2014/main" id="{DC94DE33-34A8-650C-2557-E3B14FEC6354}"/>
              </a:ext>
            </a:extLst>
          </p:cNvPr>
          <p:cNvGrpSpPr/>
          <p:nvPr/>
        </p:nvGrpSpPr>
        <p:grpSpPr>
          <a:xfrm>
            <a:off x="274320" y="3749040"/>
            <a:ext cx="2743200" cy="822960"/>
            <a:chOff x="274320" y="3749040"/>
            <a:chExt cx="2743200" cy="822960"/>
          </a:xfrm>
        </p:grpSpPr>
        <p:sp>
          <p:nvSpPr>
            <p:cNvPr id="7" name="Shape 3"/>
            <p:cNvSpPr/>
            <p:nvPr/>
          </p:nvSpPr>
          <p:spPr>
            <a:xfrm>
              <a:off x="274320" y="3749040"/>
              <a:ext cx="2743200" cy="822960"/>
            </a:xfrm>
            <a:prstGeom prst="rect">
              <a:avLst/>
            </a:prstGeom>
            <a:solidFill>
              <a:srgbClr val="028090">
                <a:alpha val="20000"/>
              </a:srgbClr>
            </a:solidFill>
            <a:ln w="12700">
              <a:solidFill>
                <a:srgbClr val="028090">
                  <a:alpha val="60000"/>
                </a:srgbClr>
              </a:solidFill>
              <a:prstDash val="solid"/>
            </a:ln>
          </p:spPr>
          <p:txBody>
            <a:bodyPr/>
            <a:lstStyle/>
            <a:p>
              <a:endParaRPr lang="en-IN"/>
            </a:p>
          </p:txBody>
        </p:sp>
        <p:sp>
          <p:nvSpPr>
            <p:cNvPr id="9" name="Text 5"/>
            <p:cNvSpPr/>
            <p:nvPr/>
          </p:nvSpPr>
          <p:spPr>
            <a:xfrm>
              <a:off x="402336" y="3794760"/>
              <a:ext cx="2468880" cy="27432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Avg. Treatment Cost</a:t>
              </a:r>
              <a:endParaRPr lang="en-US" sz="1000" dirty="0"/>
            </a:p>
          </p:txBody>
        </p:sp>
        <p:sp>
          <p:nvSpPr>
            <p:cNvPr id="10" name="Text 6"/>
            <p:cNvSpPr/>
            <p:nvPr/>
          </p:nvSpPr>
          <p:spPr>
            <a:xfrm>
              <a:off x="402336" y="4087368"/>
              <a:ext cx="2468880" cy="365760"/>
            </a:xfrm>
            <a:prstGeom prst="rect">
              <a:avLst/>
            </a:prstGeom>
            <a:noFill/>
            <a:ln/>
          </p:spPr>
          <p:txBody>
            <a:bodyPr wrap="square" lIns="0" tIns="0" rIns="0" bIns="0" rtlCol="0" anchor="ctr"/>
            <a:lstStyle/>
            <a:p>
              <a:pPr marL="0" indent="0">
                <a:buNone/>
              </a:pPr>
              <a:r>
                <a:rPr lang="en-US" sz="2000" b="1" dirty="0">
                  <a:solidFill>
                    <a:srgbClr val="028090"/>
                  </a:solidFill>
                  <a:latin typeface="Trebuchet MS" pitchFamily="34" charset="0"/>
                  <a:ea typeface="Trebuchet MS" pitchFamily="34" charset="-122"/>
                  <a:cs typeface="Trebuchet MS" pitchFamily="34" charset="-120"/>
                </a:rPr>
                <a:t>$524.75</a:t>
              </a:r>
              <a:endParaRPr lang="en-US" sz="2000" dirty="0"/>
            </a:p>
          </p:txBody>
        </p:sp>
      </p:grpSp>
      <p:sp>
        <p:nvSpPr>
          <p:cNvPr id="12" name="Shape 8"/>
          <p:cNvSpPr/>
          <p:nvPr/>
        </p:nvSpPr>
        <p:spPr>
          <a:xfrm>
            <a:off x="3200400" y="3749040"/>
            <a:ext cx="54864" cy="822960"/>
          </a:xfrm>
          <a:prstGeom prst="rect">
            <a:avLst/>
          </a:prstGeom>
          <a:solidFill>
            <a:srgbClr val="E63946"/>
          </a:solidFill>
          <a:ln w="12700">
            <a:solidFill>
              <a:srgbClr val="E63946"/>
            </a:solidFill>
            <a:prstDash val="solid"/>
          </a:ln>
        </p:spPr>
        <p:txBody>
          <a:bodyPr/>
          <a:lstStyle/>
          <a:p>
            <a:endParaRPr lang="en-IN"/>
          </a:p>
        </p:txBody>
      </p:sp>
      <p:grpSp>
        <p:nvGrpSpPr>
          <p:cNvPr id="21" name="Group 20">
            <a:extLst>
              <a:ext uri="{FF2B5EF4-FFF2-40B4-BE49-F238E27FC236}">
                <a16:creationId xmlns:a16="http://schemas.microsoft.com/office/drawing/2014/main" id="{D9DA5B58-DBCC-447A-B9D0-C4FAC51A1E7D}"/>
              </a:ext>
            </a:extLst>
          </p:cNvPr>
          <p:cNvGrpSpPr/>
          <p:nvPr/>
        </p:nvGrpSpPr>
        <p:grpSpPr>
          <a:xfrm>
            <a:off x="3200400" y="3749040"/>
            <a:ext cx="2743200" cy="822960"/>
            <a:chOff x="3200400" y="3749040"/>
            <a:chExt cx="2743200" cy="822960"/>
          </a:xfrm>
        </p:grpSpPr>
        <p:sp>
          <p:nvSpPr>
            <p:cNvPr id="11" name="Shape 7"/>
            <p:cNvSpPr/>
            <p:nvPr/>
          </p:nvSpPr>
          <p:spPr>
            <a:xfrm>
              <a:off x="3200400" y="3749040"/>
              <a:ext cx="2743200" cy="822960"/>
            </a:xfrm>
            <a:prstGeom prst="rect">
              <a:avLst/>
            </a:prstGeom>
            <a:solidFill>
              <a:srgbClr val="E63946">
                <a:alpha val="20000"/>
              </a:srgbClr>
            </a:solidFill>
            <a:ln w="12700">
              <a:solidFill>
                <a:srgbClr val="E63946">
                  <a:alpha val="60000"/>
                </a:srgbClr>
              </a:solidFill>
              <a:prstDash val="solid"/>
            </a:ln>
          </p:spPr>
          <p:txBody>
            <a:bodyPr/>
            <a:lstStyle/>
            <a:p>
              <a:endParaRPr lang="en-IN"/>
            </a:p>
          </p:txBody>
        </p:sp>
        <p:sp>
          <p:nvSpPr>
            <p:cNvPr id="13" name="Text 9"/>
            <p:cNvSpPr/>
            <p:nvPr/>
          </p:nvSpPr>
          <p:spPr>
            <a:xfrm>
              <a:off x="3328416" y="3794760"/>
              <a:ext cx="2468880" cy="27432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Max Treatment Cost</a:t>
              </a:r>
              <a:endParaRPr lang="en-US" sz="1000" dirty="0"/>
            </a:p>
          </p:txBody>
        </p:sp>
        <p:sp>
          <p:nvSpPr>
            <p:cNvPr id="14" name="Text 10"/>
            <p:cNvSpPr/>
            <p:nvPr/>
          </p:nvSpPr>
          <p:spPr>
            <a:xfrm>
              <a:off x="3328416" y="4087368"/>
              <a:ext cx="2468880" cy="365760"/>
            </a:xfrm>
            <a:prstGeom prst="rect">
              <a:avLst/>
            </a:prstGeom>
            <a:noFill/>
            <a:ln/>
          </p:spPr>
          <p:txBody>
            <a:bodyPr wrap="square" lIns="0" tIns="0" rIns="0" bIns="0" rtlCol="0" anchor="ctr"/>
            <a:lstStyle/>
            <a:p>
              <a:pPr marL="0" indent="0">
                <a:buNone/>
              </a:pPr>
              <a:r>
                <a:rPr lang="en-US" sz="2000" b="1" dirty="0">
                  <a:solidFill>
                    <a:srgbClr val="E63946"/>
                  </a:solidFill>
                  <a:latin typeface="Trebuchet MS" pitchFamily="34" charset="0"/>
                  <a:ea typeface="Trebuchet MS" pitchFamily="34" charset="-122"/>
                  <a:cs typeface="Trebuchet MS" pitchFamily="34" charset="-120"/>
                </a:rPr>
                <a:t>$999.83</a:t>
              </a:r>
              <a:endParaRPr lang="en-US" sz="2000" dirty="0"/>
            </a:p>
          </p:txBody>
        </p:sp>
      </p:grpSp>
      <p:sp>
        <p:nvSpPr>
          <p:cNvPr id="16" name="Shape 12"/>
          <p:cNvSpPr/>
          <p:nvPr/>
        </p:nvSpPr>
        <p:spPr>
          <a:xfrm>
            <a:off x="6126480" y="3749040"/>
            <a:ext cx="54864" cy="822960"/>
          </a:xfrm>
          <a:prstGeom prst="rect">
            <a:avLst/>
          </a:prstGeom>
          <a:solidFill>
            <a:srgbClr val="2DC653"/>
          </a:solidFill>
          <a:ln w="12700">
            <a:solidFill>
              <a:srgbClr val="2DC653"/>
            </a:solidFill>
            <a:prstDash val="solid"/>
          </a:ln>
        </p:spPr>
        <p:txBody>
          <a:bodyPr/>
          <a:lstStyle/>
          <a:p>
            <a:endParaRPr lang="en-IN"/>
          </a:p>
        </p:txBody>
      </p:sp>
      <p:grpSp>
        <p:nvGrpSpPr>
          <p:cNvPr id="22" name="Group 21">
            <a:extLst>
              <a:ext uri="{FF2B5EF4-FFF2-40B4-BE49-F238E27FC236}">
                <a16:creationId xmlns:a16="http://schemas.microsoft.com/office/drawing/2014/main" id="{AFE1E31B-DF2C-657D-7C02-FA111B1DA7EF}"/>
              </a:ext>
            </a:extLst>
          </p:cNvPr>
          <p:cNvGrpSpPr/>
          <p:nvPr/>
        </p:nvGrpSpPr>
        <p:grpSpPr>
          <a:xfrm>
            <a:off x="6126480" y="3749040"/>
            <a:ext cx="2743200" cy="822960"/>
            <a:chOff x="6126480" y="3749040"/>
            <a:chExt cx="2743200" cy="822960"/>
          </a:xfrm>
        </p:grpSpPr>
        <p:sp>
          <p:nvSpPr>
            <p:cNvPr id="15" name="Shape 11"/>
            <p:cNvSpPr/>
            <p:nvPr/>
          </p:nvSpPr>
          <p:spPr>
            <a:xfrm>
              <a:off x="6126480" y="3749040"/>
              <a:ext cx="2743200" cy="822960"/>
            </a:xfrm>
            <a:prstGeom prst="rect">
              <a:avLst/>
            </a:prstGeom>
            <a:solidFill>
              <a:srgbClr val="2DC653">
                <a:alpha val="20000"/>
              </a:srgbClr>
            </a:solidFill>
            <a:ln w="12700">
              <a:solidFill>
                <a:srgbClr val="2DC653">
                  <a:alpha val="60000"/>
                </a:srgbClr>
              </a:solidFill>
              <a:prstDash val="solid"/>
            </a:ln>
          </p:spPr>
          <p:txBody>
            <a:bodyPr/>
            <a:lstStyle/>
            <a:p>
              <a:endParaRPr lang="en-IN"/>
            </a:p>
          </p:txBody>
        </p:sp>
        <p:sp>
          <p:nvSpPr>
            <p:cNvPr id="17" name="Text 13"/>
            <p:cNvSpPr/>
            <p:nvPr/>
          </p:nvSpPr>
          <p:spPr>
            <a:xfrm>
              <a:off x="6254496" y="3794760"/>
              <a:ext cx="2468880" cy="27432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Min Treatment Cost</a:t>
              </a:r>
              <a:endParaRPr lang="en-US" sz="1000" dirty="0"/>
            </a:p>
          </p:txBody>
        </p:sp>
        <p:sp>
          <p:nvSpPr>
            <p:cNvPr id="18" name="Text 14"/>
            <p:cNvSpPr/>
            <p:nvPr/>
          </p:nvSpPr>
          <p:spPr>
            <a:xfrm>
              <a:off x="6254496" y="4087368"/>
              <a:ext cx="2468880" cy="365760"/>
            </a:xfrm>
            <a:prstGeom prst="rect">
              <a:avLst/>
            </a:prstGeom>
            <a:noFill/>
            <a:ln/>
          </p:spPr>
          <p:txBody>
            <a:bodyPr wrap="square" lIns="0" tIns="0" rIns="0" bIns="0" rtlCol="0" anchor="ctr"/>
            <a:lstStyle/>
            <a:p>
              <a:pPr marL="0" indent="0">
                <a:buNone/>
              </a:pPr>
              <a:r>
                <a:rPr lang="en-US" sz="2000" b="1" dirty="0">
                  <a:solidFill>
                    <a:srgbClr val="2DC653"/>
                  </a:solidFill>
                  <a:latin typeface="Trebuchet MS" pitchFamily="34" charset="0"/>
                  <a:ea typeface="Trebuchet MS" pitchFamily="34" charset="-122"/>
                  <a:cs typeface="Trebuchet MS" pitchFamily="34" charset="-120"/>
                </a:rPr>
                <a:t>$50.11</a:t>
              </a:r>
              <a:endParaRPr lang="en-US" sz="2000" dirty="0"/>
            </a:p>
          </p:txBody>
        </p:sp>
      </p:grpSp>
      <p:sp>
        <p:nvSpPr>
          <p:cNvPr id="19" name="Text 15"/>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0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a:p>
        </p:txBody>
      </p:sp>
      <p:sp>
        <p:nvSpPr>
          <p:cNvPr id="3" name="Shape 1"/>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p:cNvSpPr/>
          <p:nvPr/>
        </p:nvSpPr>
        <p:spPr>
          <a:xfrm>
            <a:off x="320040" y="91440"/>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Lab Results &amp; Doctor Insights</a:t>
            </a:r>
            <a:endParaRPr lang="en-US" sz="2600" dirty="0"/>
          </a:p>
        </p:txBody>
      </p:sp>
      <p:graphicFrame>
        <p:nvGraphicFramePr>
          <p:cNvPr id="5" name="Chart 0"/>
          <p:cNvGraphicFramePr/>
          <p:nvPr/>
        </p:nvGraphicFramePr>
        <p:xfrm>
          <a:off x="274320" y="822960"/>
          <a:ext cx="384048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297680" y="82296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274320" y="3749040"/>
            <a:ext cx="8595360" cy="777240"/>
          </a:xfrm>
          <a:prstGeom prst="rect">
            <a:avLst/>
          </a:prstGeom>
          <a:solidFill>
            <a:srgbClr val="028090">
              <a:alpha val="15000"/>
            </a:srgbClr>
          </a:solidFill>
          <a:ln w="12700">
            <a:solidFill>
              <a:srgbClr val="028090">
                <a:alpha val="50000"/>
              </a:srgbClr>
            </a:solidFill>
            <a:prstDash val="solid"/>
          </a:ln>
        </p:spPr>
        <p:txBody>
          <a:bodyPr/>
          <a:lstStyle/>
          <a:p>
            <a:endParaRPr lang="en-IN"/>
          </a:p>
        </p:txBody>
      </p:sp>
      <p:sp>
        <p:nvSpPr>
          <p:cNvPr id="8" name="Text 4"/>
          <p:cNvSpPr/>
          <p:nvPr/>
        </p:nvSpPr>
        <p:spPr>
          <a:xfrm>
            <a:off x="411480" y="3794760"/>
            <a:ext cx="8321040"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33.5% Abnormal Results: </a:t>
            </a:r>
            <a:r>
              <a:rPr lang="en-US" sz="1100" dirty="0">
                <a:solidFill>
                  <a:srgbClr val="1E293B"/>
                </a:solidFill>
                <a:latin typeface="Calibri" pitchFamily="34" charset="0"/>
                <a:ea typeface="Calibri" pitchFamily="34" charset="-122"/>
                <a:cs typeface="Calibri" pitchFamily="34" charset="-120"/>
              </a:rPr>
              <a:t>A high proportion of abnormal lab results signals a need for proactive diagnostic protocols. </a:t>
            </a:r>
            <a:r>
              <a:rPr lang="en-US" sz="1100" b="1" dirty="0">
                <a:solidFill>
                  <a:srgbClr val="028090"/>
                </a:solidFill>
                <a:latin typeface="Calibri" pitchFamily="34" charset="0"/>
                <a:ea typeface="Calibri" pitchFamily="34" charset="-122"/>
                <a:cs typeface="Calibri" pitchFamily="34" charset="-120"/>
              </a:rPr>
              <a:t>   ✅  General Medicine</a:t>
            </a:r>
            <a:r>
              <a:rPr lang="en-US" sz="1100" dirty="0">
                <a:solidFill>
                  <a:srgbClr val="1E293B"/>
                </a:solidFill>
                <a:latin typeface="Calibri" pitchFamily="34" charset="0"/>
                <a:ea typeface="Calibri" pitchFamily="34" charset="-122"/>
                <a:cs typeface="Calibri" pitchFamily="34" charset="-120"/>
              </a:rPr>
              <a:t> leads doctor specialties (21.2%), reflecting strong primary care demand.</a:t>
            </a:r>
            <a:endParaRPr lang="en-US" sz="1100" dirty="0"/>
          </a:p>
        </p:txBody>
      </p:sp>
      <p:sp>
        <p:nvSpPr>
          <p:cNvPr id="9" name="Text 5"/>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5E9671DB-12CA-B84E-56EF-768DB522F0F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462B77-9671-C50D-27EF-AE02D7CCD092}"/>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09879C5C-4DA4-5637-C0DE-7D438BB5B9C9}"/>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7D6560ED-A39E-131F-045C-9E259B03C8D1}"/>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Tableau Dashboard</a:t>
            </a:r>
            <a:endParaRPr lang="en-US" sz="2600" dirty="0"/>
          </a:p>
        </p:txBody>
      </p:sp>
      <p:sp>
        <p:nvSpPr>
          <p:cNvPr id="21" name="Text 19">
            <a:extLst>
              <a:ext uri="{FF2B5EF4-FFF2-40B4-BE49-F238E27FC236}">
                <a16:creationId xmlns:a16="http://schemas.microsoft.com/office/drawing/2014/main" id="{B3D4476D-7A46-D6C7-086F-488BB7761DE8}"/>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15415720-A24E-5D09-9FF6-10BF5D193975}"/>
              </a:ext>
            </a:extLst>
          </p:cNvPr>
          <p:cNvSpPr/>
          <p:nvPr/>
        </p:nvSpPr>
        <p:spPr>
          <a:xfrm>
            <a:off x="631643" y="955798"/>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algn="ct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E97A1FA-74E3-0800-7D11-65882E94C562}"/>
              </a:ext>
            </a:extLst>
          </p:cNvPr>
          <p:cNvPicPr>
            <a:picLocks noChangeAspect="1"/>
          </p:cNvPicPr>
          <p:nvPr/>
        </p:nvPicPr>
        <p:blipFill>
          <a:blip r:embed="rId3"/>
          <a:stretch>
            <a:fillRect/>
          </a:stretch>
        </p:blipFill>
        <p:spPr>
          <a:xfrm>
            <a:off x="640079" y="955798"/>
            <a:ext cx="7872278" cy="3844801"/>
          </a:xfrm>
          <a:prstGeom prst="rect">
            <a:avLst/>
          </a:prstGeom>
        </p:spPr>
      </p:pic>
    </p:spTree>
    <p:extLst>
      <p:ext uri="{BB962C8B-B14F-4D97-AF65-F5344CB8AC3E}">
        <p14:creationId xmlns:p14="http://schemas.microsoft.com/office/powerpoint/2010/main" val="2007229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C1593521-277D-C9D5-8E72-791F783B69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38CFEF8-3EBA-FF12-8425-3BAC8AA810C1}"/>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68FFA229-84F0-3C3D-4F74-E4F61BDB63B6}"/>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8B396ACA-073E-6256-7D6E-A594B3CC97BE}"/>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Power BI Dashboard</a:t>
            </a:r>
            <a:endParaRPr lang="en-US" sz="2600" dirty="0"/>
          </a:p>
        </p:txBody>
      </p:sp>
      <p:sp>
        <p:nvSpPr>
          <p:cNvPr id="21" name="Text 19">
            <a:extLst>
              <a:ext uri="{FF2B5EF4-FFF2-40B4-BE49-F238E27FC236}">
                <a16:creationId xmlns:a16="http://schemas.microsoft.com/office/drawing/2014/main" id="{BDF5F374-3A04-C54F-02F3-5CFD67D36872}"/>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0B1985F7-A4CB-81C6-C583-AEB31A58E704}"/>
              </a:ext>
            </a:extLst>
          </p:cNvPr>
          <p:cNvSpPr/>
          <p:nvPr/>
        </p:nvSpPr>
        <p:spPr>
          <a:xfrm>
            <a:off x="631643" y="955798"/>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algn="ct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49415E4-014F-4ADF-0270-FE088043A2A2}"/>
              </a:ext>
            </a:extLst>
          </p:cNvPr>
          <p:cNvPicPr>
            <a:picLocks noChangeAspect="1"/>
          </p:cNvPicPr>
          <p:nvPr/>
        </p:nvPicPr>
        <p:blipFill>
          <a:blip r:embed="rId3"/>
          <a:stretch>
            <a:fillRect/>
          </a:stretch>
        </p:blipFill>
        <p:spPr>
          <a:xfrm>
            <a:off x="631644" y="974451"/>
            <a:ext cx="3892943" cy="1868082"/>
          </a:xfrm>
          <a:prstGeom prst="rect">
            <a:avLst/>
          </a:prstGeom>
        </p:spPr>
      </p:pic>
      <p:pic>
        <p:nvPicPr>
          <p:cNvPr id="8" name="Picture 7">
            <a:extLst>
              <a:ext uri="{FF2B5EF4-FFF2-40B4-BE49-F238E27FC236}">
                <a16:creationId xmlns:a16="http://schemas.microsoft.com/office/drawing/2014/main" id="{CD2EBE77-9A53-8A05-7DEE-CCCC70F7D4C8}"/>
              </a:ext>
            </a:extLst>
          </p:cNvPr>
          <p:cNvPicPr>
            <a:picLocks noChangeAspect="1"/>
          </p:cNvPicPr>
          <p:nvPr/>
        </p:nvPicPr>
        <p:blipFill>
          <a:blip r:embed="rId4"/>
          <a:stretch>
            <a:fillRect/>
          </a:stretch>
        </p:blipFill>
        <p:spPr>
          <a:xfrm>
            <a:off x="4714240" y="974452"/>
            <a:ext cx="3778665" cy="1878556"/>
          </a:xfrm>
          <a:prstGeom prst="rect">
            <a:avLst/>
          </a:prstGeom>
        </p:spPr>
      </p:pic>
      <p:pic>
        <p:nvPicPr>
          <p:cNvPr id="12" name="Picture 11">
            <a:extLst>
              <a:ext uri="{FF2B5EF4-FFF2-40B4-BE49-F238E27FC236}">
                <a16:creationId xmlns:a16="http://schemas.microsoft.com/office/drawing/2014/main" id="{4615CDD0-5767-B46C-EDE3-9160B5D21828}"/>
              </a:ext>
            </a:extLst>
          </p:cNvPr>
          <p:cNvPicPr>
            <a:picLocks noChangeAspect="1"/>
          </p:cNvPicPr>
          <p:nvPr/>
        </p:nvPicPr>
        <p:blipFill>
          <a:blip r:embed="rId5"/>
          <a:stretch>
            <a:fillRect/>
          </a:stretch>
        </p:blipFill>
        <p:spPr>
          <a:xfrm>
            <a:off x="631641" y="2924817"/>
            <a:ext cx="3892945" cy="1877582"/>
          </a:xfrm>
          <a:prstGeom prst="rect">
            <a:avLst/>
          </a:prstGeom>
        </p:spPr>
      </p:pic>
      <p:pic>
        <p:nvPicPr>
          <p:cNvPr id="14" name="Picture 13">
            <a:extLst>
              <a:ext uri="{FF2B5EF4-FFF2-40B4-BE49-F238E27FC236}">
                <a16:creationId xmlns:a16="http://schemas.microsoft.com/office/drawing/2014/main" id="{934B5B56-D447-6280-7E2F-A5058BCAD9A1}"/>
              </a:ext>
            </a:extLst>
          </p:cNvPr>
          <p:cNvPicPr>
            <a:picLocks noChangeAspect="1"/>
          </p:cNvPicPr>
          <p:nvPr/>
        </p:nvPicPr>
        <p:blipFill>
          <a:blip r:embed="rId6"/>
          <a:stretch>
            <a:fillRect/>
          </a:stretch>
        </p:blipFill>
        <p:spPr>
          <a:xfrm>
            <a:off x="4714240" y="2924817"/>
            <a:ext cx="3778665" cy="1869633"/>
          </a:xfrm>
          <a:prstGeom prst="rect">
            <a:avLst/>
          </a:prstGeom>
        </p:spPr>
      </p:pic>
    </p:spTree>
    <p:extLst>
      <p:ext uri="{BB962C8B-B14F-4D97-AF65-F5344CB8AC3E}">
        <p14:creationId xmlns:p14="http://schemas.microsoft.com/office/powerpoint/2010/main" val="1312150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9D443BDB-52AC-AC4C-0A9E-3FDC3C434F4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F85F53-AFBB-7F3C-3807-FA4554B0329A}"/>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242EB384-2B7B-1D7B-09A9-0ECA1F49151C}"/>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79E6474A-BF44-D337-51AD-CA2CBA235816}"/>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Excel Dashboard</a:t>
            </a:r>
            <a:endParaRPr lang="en-US" sz="2600" dirty="0"/>
          </a:p>
        </p:txBody>
      </p:sp>
      <p:sp>
        <p:nvSpPr>
          <p:cNvPr id="21" name="Text 19">
            <a:extLst>
              <a:ext uri="{FF2B5EF4-FFF2-40B4-BE49-F238E27FC236}">
                <a16:creationId xmlns:a16="http://schemas.microsoft.com/office/drawing/2014/main" id="{8CB953DD-87CD-0EB3-AAF9-94C12F09751B}"/>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1CB2441F-A5B6-4B5D-FFD2-04027A5BEE75}"/>
              </a:ext>
            </a:extLst>
          </p:cNvPr>
          <p:cNvSpPr/>
          <p:nvPr/>
        </p:nvSpPr>
        <p:spPr>
          <a:xfrm>
            <a:off x="631643" y="955798"/>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algn="ct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2E25CA2-B81C-2AEA-9B50-635EBDB86B72}"/>
              </a:ext>
            </a:extLst>
          </p:cNvPr>
          <p:cNvPicPr>
            <a:picLocks noChangeAspect="1"/>
          </p:cNvPicPr>
          <p:nvPr/>
        </p:nvPicPr>
        <p:blipFill>
          <a:blip r:embed="rId3"/>
          <a:stretch>
            <a:fillRect/>
          </a:stretch>
        </p:blipFill>
        <p:spPr>
          <a:xfrm>
            <a:off x="631643" y="955799"/>
            <a:ext cx="7880713" cy="3817332"/>
          </a:xfrm>
          <a:prstGeom prst="rect">
            <a:avLst/>
          </a:prstGeom>
        </p:spPr>
      </p:pic>
    </p:spTree>
    <p:extLst>
      <p:ext uri="{BB962C8B-B14F-4D97-AF65-F5344CB8AC3E}">
        <p14:creationId xmlns:p14="http://schemas.microsoft.com/office/powerpoint/2010/main" val="2327317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6F8"/>
        </a:solidFill>
        <a:effectLst/>
      </p:bgPr>
    </p:bg>
    <p:spTree>
      <p:nvGrpSpPr>
        <p:cNvPr id="1" name="">
          <a:extLst>
            <a:ext uri="{FF2B5EF4-FFF2-40B4-BE49-F238E27FC236}">
              <a16:creationId xmlns:a16="http://schemas.microsoft.com/office/drawing/2014/main" id="{CCE8D5FE-9244-7A72-AA8B-E12B665354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87DC18-896A-23F0-9735-AEC03C53B770}"/>
              </a:ext>
            </a:extLst>
          </p:cNvPr>
          <p:cNvSpPr/>
          <p:nvPr/>
        </p:nvSpPr>
        <p:spPr>
          <a:xfrm>
            <a:off x="0" y="0"/>
            <a:ext cx="9144000" cy="685800"/>
          </a:xfrm>
          <a:prstGeom prst="rect">
            <a:avLst/>
          </a:prstGeom>
          <a:solidFill>
            <a:srgbClr val="0A2342"/>
          </a:solidFill>
          <a:ln w="12700">
            <a:solidFill>
              <a:srgbClr val="0A2342"/>
            </a:solidFill>
            <a:prstDash val="solid"/>
          </a:ln>
        </p:spPr>
        <p:txBody>
          <a:bodyPr/>
          <a:lstStyle/>
          <a:p>
            <a:endParaRPr lang="en-IN" dirty="0"/>
          </a:p>
        </p:txBody>
      </p:sp>
      <p:sp>
        <p:nvSpPr>
          <p:cNvPr id="3" name="Shape 1">
            <a:extLst>
              <a:ext uri="{FF2B5EF4-FFF2-40B4-BE49-F238E27FC236}">
                <a16:creationId xmlns:a16="http://schemas.microsoft.com/office/drawing/2014/main" id="{FCE3E1EC-0264-E033-0DDE-AC1F20DACF1D}"/>
              </a:ext>
            </a:extLst>
          </p:cNvPr>
          <p:cNvSpPr/>
          <p:nvPr/>
        </p:nvSpPr>
        <p:spPr>
          <a:xfrm>
            <a:off x="0" y="685800"/>
            <a:ext cx="9144000" cy="54864"/>
          </a:xfrm>
          <a:prstGeom prst="rect">
            <a:avLst/>
          </a:prstGeom>
          <a:solidFill>
            <a:srgbClr val="028090"/>
          </a:solidFill>
          <a:ln w="12700">
            <a:solidFill>
              <a:srgbClr val="028090"/>
            </a:solidFill>
            <a:prstDash val="solid"/>
          </a:ln>
        </p:spPr>
        <p:txBody>
          <a:bodyPr/>
          <a:lstStyle/>
          <a:p>
            <a:endParaRPr lang="en-IN"/>
          </a:p>
        </p:txBody>
      </p:sp>
      <p:sp>
        <p:nvSpPr>
          <p:cNvPr id="4" name="Text 2">
            <a:extLst>
              <a:ext uri="{FF2B5EF4-FFF2-40B4-BE49-F238E27FC236}">
                <a16:creationId xmlns:a16="http://schemas.microsoft.com/office/drawing/2014/main" id="{F590C7EB-58DE-DBF6-2BCE-49ABDDFF50D4}"/>
              </a:ext>
            </a:extLst>
          </p:cNvPr>
          <p:cNvSpPr/>
          <p:nvPr/>
        </p:nvSpPr>
        <p:spPr>
          <a:xfrm>
            <a:off x="320040" y="91440"/>
            <a:ext cx="8503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rPr>
              <a:t>SQL Queries</a:t>
            </a:r>
            <a:endParaRPr lang="en-US" sz="2600" dirty="0"/>
          </a:p>
        </p:txBody>
      </p:sp>
      <p:sp>
        <p:nvSpPr>
          <p:cNvPr id="21" name="Text 19">
            <a:extLst>
              <a:ext uri="{FF2B5EF4-FFF2-40B4-BE49-F238E27FC236}">
                <a16:creationId xmlns:a16="http://schemas.microsoft.com/office/drawing/2014/main" id="{308F11C4-6218-A393-D96E-959D7061B114}"/>
              </a:ext>
            </a:extLst>
          </p:cNvPr>
          <p:cNvSpPr/>
          <p:nvPr/>
        </p:nvSpPr>
        <p:spPr>
          <a:xfrm>
            <a:off x="0" y="4800600"/>
            <a:ext cx="9144000" cy="3429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Healthcare Analytics Report  |  Based on 10,000 Patient Records</a:t>
            </a:r>
            <a:endParaRPr lang="en-US" sz="900" dirty="0"/>
          </a:p>
        </p:txBody>
      </p:sp>
      <p:sp>
        <p:nvSpPr>
          <p:cNvPr id="23" name="Shape 15">
            <a:extLst>
              <a:ext uri="{FF2B5EF4-FFF2-40B4-BE49-F238E27FC236}">
                <a16:creationId xmlns:a16="http://schemas.microsoft.com/office/drawing/2014/main" id="{48F82679-43C1-A688-6C63-F2B7FAE66409}"/>
              </a:ext>
            </a:extLst>
          </p:cNvPr>
          <p:cNvSpPr/>
          <p:nvPr/>
        </p:nvSpPr>
        <p:spPr>
          <a:xfrm>
            <a:off x="631643" y="955798"/>
            <a:ext cx="7880713" cy="3844801"/>
          </a:xfrm>
          <a:prstGeom prst="rect">
            <a:avLst/>
          </a:prstGeom>
          <a:solidFill>
            <a:srgbClr val="FFFFFF"/>
          </a:solidFill>
          <a:ln w="12700">
            <a:solidFill>
              <a:srgbClr val="D1E8EC"/>
            </a:solidFill>
            <a:prstDash val="solid"/>
          </a:ln>
          <a:effectLst>
            <a:outerShdw blurRad="76200" dist="25400" dir="8100000" algn="bl" rotWithShape="0">
              <a:srgbClr val="000000">
                <a:alpha val="10000"/>
              </a:srgbClr>
            </a:outerShdw>
          </a:effectLst>
        </p:spPr>
        <p:txBody>
          <a:bodyPr/>
          <a:lstStyle/>
          <a:p>
            <a:pPr marL="114300" indent="0" algn="l">
              <a:spcBef>
                <a:spcPts val="200"/>
              </a:spcBef>
            </a:pPr>
            <a:r>
              <a:rPr lang="en-US" sz="800" b="1" dirty="0">
                <a:solidFill>
                  <a:srgbClr val="028090"/>
                </a:solidFill>
                <a:latin typeface="Consolas" pitchFamily="49" charset="0"/>
              </a:rPr>
              <a:t>-- 1. Total visits by year</a:t>
            </a:r>
          </a:p>
          <a:p>
            <a:pPr marL="114300" indent="0" algn="l">
              <a:lnSpc>
                <a:spcPts val="1800"/>
              </a:lnSpc>
            </a:pPr>
            <a:r>
              <a:rPr lang="en-US" sz="800" dirty="0">
                <a:solidFill>
                  <a:srgbClr val="0A2342"/>
                </a:solidFill>
                <a:latin typeface="Consolas" pitchFamily="49" charset="0"/>
              </a:rPr>
              <a:t>SELECT YEAR(Visit_Date) AS Visit_Year, COUNT(*) AS Total_Visits FROM Visits GROUP BY YEAR(Visit_Date) ORDER BY </a:t>
            </a:r>
            <a:r>
              <a:rPr lang="en-US" sz="800" dirty="0" err="1">
                <a:solidFill>
                  <a:srgbClr val="0A2342"/>
                </a:solidFill>
                <a:latin typeface="Consolas" pitchFamily="49" charset="0"/>
              </a:rPr>
              <a:t>Visit_Year</a:t>
            </a:r>
            <a:r>
              <a:rPr lang="en-US" sz="800" dirty="0">
                <a:solidFill>
                  <a:srgbClr val="0A2342"/>
                </a:solidFill>
                <a:latin typeface="Consolas" pitchFamily="49" charset="0"/>
              </a:rPr>
              <a:t>;</a:t>
            </a:r>
          </a:p>
          <a:p>
            <a:pPr marL="114300" indent="0" algn="l">
              <a:lnSpc>
                <a:spcPts val="1800"/>
              </a:lnSpc>
            </a:pPr>
            <a:endParaRPr lang="en-US" sz="800" dirty="0">
              <a:solidFill>
                <a:srgbClr val="0A2342"/>
              </a:solidFill>
              <a:latin typeface="Consolas" pitchFamily="49" charset="0"/>
            </a:endParaRPr>
          </a:p>
          <a:p>
            <a:pPr marL="114300" indent="0" algn="l">
              <a:spcBef>
                <a:spcPts val="300"/>
              </a:spcBef>
            </a:pPr>
            <a:r>
              <a:rPr lang="en-US" sz="800" b="1" dirty="0">
                <a:solidFill>
                  <a:srgbClr val="028090"/>
                </a:solidFill>
                <a:latin typeface="Consolas" pitchFamily="49" charset="0"/>
              </a:rPr>
              <a:t>-- 2. Average treatment cost by treatment type</a:t>
            </a:r>
          </a:p>
          <a:p>
            <a:pPr marL="114300" indent="0" algn="l">
              <a:lnSpc>
                <a:spcPts val="1800"/>
              </a:lnSpc>
            </a:pPr>
            <a:r>
              <a:rPr lang="en-US" sz="800" dirty="0">
                <a:solidFill>
                  <a:srgbClr val="0A2342"/>
                </a:solidFill>
                <a:latin typeface="Consolas" pitchFamily="49" charset="0"/>
              </a:rPr>
              <a:t>SELECT Treatment_Type, ROUND(AVG(Treatment_Cost),2) AS Avg_Cost, COUNT(*) AS Total FROM Treatments GROUP BY Treatment_Type ORDER BY Avg_Cost DESC;</a:t>
            </a:r>
          </a:p>
          <a:p>
            <a:pPr marL="114300" indent="0" algn="l">
              <a:lnSpc>
                <a:spcPts val="1800"/>
              </a:lnSpc>
            </a:pPr>
            <a:endParaRPr lang="en-US" sz="800" dirty="0">
              <a:solidFill>
                <a:srgbClr val="0A2342"/>
              </a:solidFill>
              <a:latin typeface="Consolas" pitchFamily="49" charset="0"/>
            </a:endParaRPr>
          </a:p>
          <a:p>
            <a:pPr marL="114300" indent="0" algn="l">
              <a:spcBef>
                <a:spcPts val="300"/>
              </a:spcBef>
            </a:pPr>
            <a:r>
              <a:rPr lang="en-US" sz="800" b="1" dirty="0">
                <a:solidFill>
                  <a:srgbClr val="028090"/>
                </a:solidFill>
                <a:latin typeface="Consolas" pitchFamily="49" charset="0"/>
              </a:rPr>
              <a:t>-- 3. Top diagnoses by visit count</a:t>
            </a:r>
          </a:p>
          <a:p>
            <a:pPr marL="114300" indent="0" algn="l">
              <a:lnSpc>
                <a:spcPts val="1800"/>
              </a:lnSpc>
            </a:pPr>
            <a:r>
              <a:rPr lang="en-US" sz="800" dirty="0">
                <a:solidFill>
                  <a:srgbClr val="0A2342"/>
                </a:solidFill>
                <a:latin typeface="Consolas" pitchFamily="49" charset="0"/>
              </a:rPr>
              <a:t>SELECT Diagnosis, COUNT(*) AS Visit_Count FROM Visits GROUP BY Diagnosis ORDER BY Visit_Count DESC LIMIT 10;</a:t>
            </a:r>
          </a:p>
          <a:p>
            <a:pPr marL="114300" indent="0" algn="l">
              <a:lnSpc>
                <a:spcPts val="1800"/>
              </a:lnSpc>
            </a:pPr>
            <a:endParaRPr lang="en-US" sz="800" dirty="0">
              <a:solidFill>
                <a:srgbClr val="0A2342"/>
              </a:solidFill>
              <a:latin typeface="Consolas" pitchFamily="49" charset="0"/>
            </a:endParaRPr>
          </a:p>
          <a:p>
            <a:pPr marL="114300" indent="0" algn="l">
              <a:spcBef>
                <a:spcPts val="300"/>
              </a:spcBef>
            </a:pPr>
            <a:r>
              <a:rPr lang="en-US" sz="800" b="1" dirty="0">
                <a:solidFill>
                  <a:srgbClr val="028090"/>
                </a:solidFill>
                <a:latin typeface="Consolas" pitchFamily="49" charset="0"/>
              </a:rPr>
              <a:t>-- 4. Lab result distribution with percentage</a:t>
            </a:r>
          </a:p>
          <a:p>
            <a:pPr marL="114300" indent="0" algn="l">
              <a:lnSpc>
                <a:spcPts val="1800"/>
              </a:lnSpc>
            </a:pPr>
            <a:r>
              <a:rPr lang="en-US" sz="800" dirty="0">
                <a:solidFill>
                  <a:srgbClr val="0A2342"/>
                </a:solidFill>
                <a:latin typeface="Consolas" pitchFamily="49" charset="0"/>
              </a:rPr>
              <a:t>SELECT Result_Status, COUNT(*) AS Count, ROUND(COUNT(*)*100.0/(SELECT COUNT(*) FROM Lab_Results),1) AS Pct FROM Lab_Results GROUP BY </a:t>
            </a:r>
            <a:r>
              <a:rPr lang="en-US" sz="800" dirty="0" err="1">
                <a:solidFill>
                  <a:srgbClr val="0A2342"/>
                </a:solidFill>
                <a:latin typeface="Consolas" pitchFamily="49" charset="0"/>
              </a:rPr>
              <a:t>Result_Status</a:t>
            </a:r>
            <a:r>
              <a:rPr lang="en-US" sz="800" dirty="0">
                <a:solidFill>
                  <a:srgbClr val="0A2342"/>
                </a:solidFill>
                <a:latin typeface="Consolas" pitchFamily="49" charset="0"/>
              </a:rPr>
              <a:t>;</a:t>
            </a:r>
          </a:p>
          <a:p>
            <a:pPr marL="114300" indent="0" algn="l">
              <a:lnSpc>
                <a:spcPts val="1800"/>
              </a:lnSpc>
            </a:pPr>
            <a:endParaRPr lang="en-US" sz="800" dirty="0">
              <a:solidFill>
                <a:srgbClr val="0A2342"/>
              </a:solidFill>
              <a:latin typeface="Consolas" pitchFamily="49" charset="0"/>
            </a:endParaRPr>
          </a:p>
          <a:p>
            <a:pPr marL="114300" indent="0" algn="l">
              <a:spcBef>
                <a:spcPts val="300"/>
              </a:spcBef>
            </a:pPr>
            <a:r>
              <a:rPr lang="en-US" sz="800" b="1" dirty="0">
                <a:solidFill>
                  <a:srgbClr val="028090"/>
                </a:solidFill>
                <a:latin typeface="Consolas" pitchFamily="49" charset="0"/>
              </a:rPr>
              <a:t>-- 5. Chronic condition prevalence across patients</a:t>
            </a:r>
          </a:p>
          <a:p>
            <a:pPr marL="114300" indent="0" algn="l">
              <a:lnSpc>
                <a:spcPts val="1800"/>
              </a:lnSpc>
            </a:pPr>
            <a:r>
              <a:rPr lang="en-US" sz="800" dirty="0">
                <a:solidFill>
                  <a:srgbClr val="0A2342"/>
                </a:solidFill>
                <a:latin typeface="Consolas" pitchFamily="49" charset="0"/>
              </a:rPr>
              <a:t>SELECT Chronic_Condition, COUNT(DISTINCT Patient_ID) AS Patients FROM Patient_Conditions GROUP BY Chronic_Condition ORDER BY Patients DESC;</a:t>
            </a:r>
          </a:p>
        </p:txBody>
      </p:sp>
    </p:spTree>
    <p:extLst>
      <p:ext uri="{BB962C8B-B14F-4D97-AF65-F5344CB8AC3E}">
        <p14:creationId xmlns:p14="http://schemas.microsoft.com/office/powerpoint/2010/main" val="656650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w="12700">
            <a:solidFill>
              <a:srgbClr val="028090"/>
            </a:solidFill>
            <a:prstDash val="solid"/>
          </a:ln>
        </p:spPr>
        <p:txBody>
          <a:bodyPr/>
          <a:lstStyle/>
          <a:p>
            <a:endParaRPr lang="en-IN"/>
          </a:p>
        </p:txBody>
      </p:sp>
      <p:sp>
        <p:nvSpPr>
          <p:cNvPr id="3" name="Text 1"/>
          <p:cNvSpPr/>
          <p:nvPr/>
        </p:nvSpPr>
        <p:spPr>
          <a:xfrm>
            <a:off x="365760" y="182880"/>
            <a:ext cx="841248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Key Findings &amp; Recommendations</a:t>
            </a:r>
            <a:endParaRPr lang="en-US" sz="2600" dirty="0"/>
          </a:p>
        </p:txBody>
      </p:sp>
      <p:sp>
        <p:nvSpPr>
          <p:cNvPr id="4" name="Shape 2"/>
          <p:cNvSpPr/>
          <p:nvPr/>
        </p:nvSpPr>
        <p:spPr>
          <a:xfrm>
            <a:off x="274320" y="960120"/>
            <a:ext cx="4160520" cy="1188720"/>
          </a:xfrm>
          <a:prstGeom prst="rect">
            <a:avLst/>
          </a:prstGeom>
          <a:solidFill>
            <a:srgbClr val="FFFFFF">
              <a:alpha val="8000"/>
            </a:srgbClr>
          </a:solidFill>
          <a:ln w="12700">
            <a:solidFill>
              <a:srgbClr val="028090">
                <a:alpha val="45000"/>
              </a:srgbClr>
            </a:solidFill>
            <a:prstDash val="solid"/>
          </a:ln>
        </p:spPr>
        <p:txBody>
          <a:bodyPr/>
          <a:lstStyle/>
          <a:p>
            <a:endParaRPr lang="en-IN"/>
          </a:p>
        </p:txBody>
      </p:sp>
      <p:sp>
        <p:nvSpPr>
          <p:cNvPr id="5" name="Shape 3"/>
          <p:cNvSpPr/>
          <p:nvPr/>
        </p:nvSpPr>
        <p:spPr>
          <a:xfrm>
            <a:off x="274320" y="960120"/>
            <a:ext cx="54864" cy="1188720"/>
          </a:xfrm>
          <a:prstGeom prst="rect">
            <a:avLst/>
          </a:prstGeom>
          <a:solidFill>
            <a:srgbClr val="02C39A"/>
          </a:solidFill>
          <a:ln w="12700">
            <a:solidFill>
              <a:srgbClr val="02C39A"/>
            </a:solidFill>
            <a:prstDash val="solid"/>
          </a:ln>
        </p:spPr>
        <p:txBody>
          <a:bodyPr/>
          <a:lstStyle/>
          <a:p>
            <a:endParaRPr lang="en-IN"/>
          </a:p>
        </p:txBody>
      </p:sp>
      <p:sp>
        <p:nvSpPr>
          <p:cNvPr id="6" name="Text 4"/>
          <p:cNvSpPr/>
          <p:nvPr/>
        </p:nvSpPr>
        <p:spPr>
          <a:xfrm>
            <a:off x="411480" y="1051560"/>
            <a:ext cx="3840480" cy="320040"/>
          </a:xfrm>
          <a:prstGeom prst="rect">
            <a:avLst/>
          </a:prstGeom>
          <a:noFill/>
          <a:ln/>
        </p:spPr>
        <p:txBody>
          <a:bodyPr wrap="square" lIns="0" tIns="0" rIns="0" bIns="0" rtlCol="0" anchor="ctr"/>
          <a:lstStyle/>
          <a:p>
            <a:pPr marL="0" indent="0">
              <a:buNone/>
            </a:pPr>
            <a:r>
              <a:rPr lang="en-US" sz="1300" b="1" dirty="0">
                <a:solidFill>
                  <a:srgbClr val="02C39A"/>
                </a:solidFill>
                <a:latin typeface="Trebuchet MS" pitchFamily="34" charset="0"/>
                <a:ea typeface="Trebuchet MS" pitchFamily="34" charset="-122"/>
                <a:cs typeface="Trebuchet MS" pitchFamily="34" charset="-120"/>
              </a:rPr>
              <a:t>📈  Rising Visit Volume</a:t>
            </a:r>
            <a:endParaRPr lang="en-US" sz="1300" dirty="0"/>
          </a:p>
        </p:txBody>
      </p:sp>
      <p:sp>
        <p:nvSpPr>
          <p:cNvPr id="7" name="Text 5"/>
          <p:cNvSpPr/>
          <p:nvPr/>
        </p:nvSpPr>
        <p:spPr>
          <a:xfrm>
            <a:off x="411480" y="1380744"/>
            <a:ext cx="388620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Visits grew 24% from 2023 to 2024. Healthcare facilities should scale staffing and bed capacity to meet growing demand.</a:t>
            </a:r>
            <a:endParaRPr lang="en-US" sz="1050" dirty="0"/>
          </a:p>
        </p:txBody>
      </p:sp>
      <p:sp>
        <p:nvSpPr>
          <p:cNvPr id="8" name="Shape 6"/>
          <p:cNvSpPr/>
          <p:nvPr/>
        </p:nvSpPr>
        <p:spPr>
          <a:xfrm>
            <a:off x="4754880" y="960120"/>
            <a:ext cx="4160520" cy="1188720"/>
          </a:xfrm>
          <a:prstGeom prst="rect">
            <a:avLst/>
          </a:prstGeom>
          <a:solidFill>
            <a:srgbClr val="FFFFFF">
              <a:alpha val="8000"/>
            </a:srgbClr>
          </a:solidFill>
          <a:ln w="12700">
            <a:solidFill>
              <a:srgbClr val="028090">
                <a:alpha val="45000"/>
              </a:srgbClr>
            </a:solidFill>
            <a:prstDash val="solid"/>
          </a:ln>
        </p:spPr>
        <p:txBody>
          <a:bodyPr/>
          <a:lstStyle/>
          <a:p>
            <a:endParaRPr lang="en-IN"/>
          </a:p>
        </p:txBody>
      </p:sp>
      <p:sp>
        <p:nvSpPr>
          <p:cNvPr id="9" name="Shape 7"/>
          <p:cNvSpPr/>
          <p:nvPr/>
        </p:nvSpPr>
        <p:spPr>
          <a:xfrm>
            <a:off x="4754880" y="960120"/>
            <a:ext cx="54864" cy="1188720"/>
          </a:xfrm>
          <a:prstGeom prst="rect">
            <a:avLst/>
          </a:prstGeom>
          <a:solidFill>
            <a:srgbClr val="02C39A"/>
          </a:solidFill>
          <a:ln w="12700">
            <a:solidFill>
              <a:srgbClr val="02C39A"/>
            </a:solidFill>
            <a:prstDash val="solid"/>
          </a:ln>
        </p:spPr>
        <p:txBody>
          <a:bodyPr/>
          <a:lstStyle/>
          <a:p>
            <a:endParaRPr lang="en-IN"/>
          </a:p>
        </p:txBody>
      </p:sp>
      <p:sp>
        <p:nvSpPr>
          <p:cNvPr id="10" name="Text 8"/>
          <p:cNvSpPr/>
          <p:nvPr/>
        </p:nvSpPr>
        <p:spPr>
          <a:xfrm>
            <a:off x="4892040" y="1051560"/>
            <a:ext cx="3840480" cy="320040"/>
          </a:xfrm>
          <a:prstGeom prst="rect">
            <a:avLst/>
          </a:prstGeom>
          <a:noFill/>
          <a:ln/>
        </p:spPr>
        <p:txBody>
          <a:bodyPr wrap="square" lIns="0" tIns="0" rIns="0" bIns="0" rtlCol="0" anchor="ctr"/>
          <a:lstStyle/>
          <a:p>
            <a:pPr marL="0" indent="0">
              <a:buNone/>
            </a:pPr>
            <a:r>
              <a:rPr lang="en-US" sz="1300" b="1" dirty="0">
                <a:solidFill>
                  <a:srgbClr val="02C39A"/>
                </a:solidFill>
                <a:latin typeface="Trebuchet MS" pitchFamily="34" charset="0"/>
                <a:ea typeface="Trebuchet MS" pitchFamily="34" charset="-122"/>
                <a:cs typeface="Trebuchet MS" pitchFamily="34" charset="-120"/>
              </a:rPr>
              <a:t>🧠  Chronic Disease Burden</a:t>
            </a:r>
            <a:endParaRPr lang="en-US" sz="1300" dirty="0"/>
          </a:p>
        </p:txBody>
      </p:sp>
      <p:sp>
        <p:nvSpPr>
          <p:cNvPr id="11" name="Text 9"/>
          <p:cNvSpPr/>
          <p:nvPr/>
        </p:nvSpPr>
        <p:spPr>
          <a:xfrm>
            <a:off x="4892040" y="1380744"/>
            <a:ext cx="388620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Hypertension (20.5%) and Diabetes (20.3%) are the top chronic conditions. Preventive care programs should be prioritized.</a:t>
            </a:r>
            <a:endParaRPr lang="en-US" sz="1050" dirty="0"/>
          </a:p>
        </p:txBody>
      </p:sp>
      <p:sp>
        <p:nvSpPr>
          <p:cNvPr id="12" name="Shape 10"/>
          <p:cNvSpPr/>
          <p:nvPr/>
        </p:nvSpPr>
        <p:spPr>
          <a:xfrm>
            <a:off x="274320" y="2286000"/>
            <a:ext cx="4160520" cy="1188720"/>
          </a:xfrm>
          <a:prstGeom prst="rect">
            <a:avLst/>
          </a:prstGeom>
          <a:solidFill>
            <a:srgbClr val="FFFFFF">
              <a:alpha val="8000"/>
            </a:srgbClr>
          </a:solidFill>
          <a:ln w="12700">
            <a:solidFill>
              <a:srgbClr val="028090">
                <a:alpha val="45000"/>
              </a:srgbClr>
            </a:solidFill>
            <a:prstDash val="solid"/>
          </a:ln>
        </p:spPr>
        <p:txBody>
          <a:bodyPr/>
          <a:lstStyle/>
          <a:p>
            <a:endParaRPr lang="en-IN"/>
          </a:p>
        </p:txBody>
      </p:sp>
      <p:sp>
        <p:nvSpPr>
          <p:cNvPr id="13" name="Shape 11"/>
          <p:cNvSpPr/>
          <p:nvPr/>
        </p:nvSpPr>
        <p:spPr>
          <a:xfrm>
            <a:off x="274320" y="2286000"/>
            <a:ext cx="54864" cy="1188720"/>
          </a:xfrm>
          <a:prstGeom prst="rect">
            <a:avLst/>
          </a:prstGeom>
          <a:solidFill>
            <a:srgbClr val="02C39A"/>
          </a:solidFill>
          <a:ln w="12700">
            <a:solidFill>
              <a:srgbClr val="02C39A"/>
            </a:solidFill>
            <a:prstDash val="solid"/>
          </a:ln>
        </p:spPr>
        <p:txBody>
          <a:bodyPr/>
          <a:lstStyle/>
          <a:p>
            <a:endParaRPr lang="en-IN"/>
          </a:p>
        </p:txBody>
      </p:sp>
      <p:sp>
        <p:nvSpPr>
          <p:cNvPr id="14" name="Text 12"/>
          <p:cNvSpPr/>
          <p:nvPr/>
        </p:nvSpPr>
        <p:spPr>
          <a:xfrm>
            <a:off x="411480" y="2377440"/>
            <a:ext cx="3840480" cy="320040"/>
          </a:xfrm>
          <a:prstGeom prst="rect">
            <a:avLst/>
          </a:prstGeom>
          <a:noFill/>
          <a:ln/>
        </p:spPr>
        <p:txBody>
          <a:bodyPr wrap="square" lIns="0" tIns="0" rIns="0" bIns="0" rtlCol="0" anchor="ctr"/>
          <a:lstStyle/>
          <a:p>
            <a:pPr marL="0" indent="0">
              <a:buNone/>
            </a:pPr>
            <a:r>
              <a:rPr lang="en-US" sz="1300" b="1" dirty="0">
                <a:solidFill>
                  <a:srgbClr val="02C39A"/>
                </a:solidFill>
                <a:latin typeface="Trebuchet MS" pitchFamily="34" charset="0"/>
                <a:ea typeface="Trebuchet MS" pitchFamily="34" charset="-122"/>
                <a:cs typeface="Trebuchet MS" pitchFamily="34" charset="-120"/>
              </a:rPr>
              <a:t>🔬  High Abnormal Lab Rate</a:t>
            </a:r>
            <a:endParaRPr lang="en-US" sz="1300" dirty="0"/>
          </a:p>
        </p:txBody>
      </p:sp>
      <p:sp>
        <p:nvSpPr>
          <p:cNvPr id="15" name="Text 13"/>
          <p:cNvSpPr/>
          <p:nvPr/>
        </p:nvSpPr>
        <p:spPr>
          <a:xfrm>
            <a:off x="411480" y="2706624"/>
            <a:ext cx="388620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33.5% of labs returned abnormal. Implement automated flagging and faster follow-up protocols to improve outcomes.</a:t>
            </a:r>
            <a:endParaRPr lang="en-US" sz="1050" dirty="0"/>
          </a:p>
        </p:txBody>
      </p:sp>
      <p:sp>
        <p:nvSpPr>
          <p:cNvPr id="16" name="Shape 14"/>
          <p:cNvSpPr/>
          <p:nvPr/>
        </p:nvSpPr>
        <p:spPr>
          <a:xfrm>
            <a:off x="4754880" y="2286000"/>
            <a:ext cx="4160520" cy="1188720"/>
          </a:xfrm>
          <a:prstGeom prst="rect">
            <a:avLst/>
          </a:prstGeom>
          <a:solidFill>
            <a:srgbClr val="FFFFFF">
              <a:alpha val="8000"/>
            </a:srgbClr>
          </a:solidFill>
          <a:ln w="12700">
            <a:solidFill>
              <a:srgbClr val="028090">
                <a:alpha val="45000"/>
              </a:srgbClr>
            </a:solidFill>
            <a:prstDash val="solid"/>
          </a:ln>
        </p:spPr>
        <p:txBody>
          <a:bodyPr/>
          <a:lstStyle/>
          <a:p>
            <a:endParaRPr lang="en-IN"/>
          </a:p>
        </p:txBody>
      </p:sp>
      <p:sp>
        <p:nvSpPr>
          <p:cNvPr id="17" name="Shape 15"/>
          <p:cNvSpPr/>
          <p:nvPr/>
        </p:nvSpPr>
        <p:spPr>
          <a:xfrm>
            <a:off x="4754880" y="2286000"/>
            <a:ext cx="54864" cy="1188720"/>
          </a:xfrm>
          <a:prstGeom prst="rect">
            <a:avLst/>
          </a:prstGeom>
          <a:solidFill>
            <a:srgbClr val="02C39A"/>
          </a:solidFill>
          <a:ln w="12700">
            <a:solidFill>
              <a:srgbClr val="02C39A"/>
            </a:solidFill>
            <a:prstDash val="solid"/>
          </a:ln>
        </p:spPr>
        <p:txBody>
          <a:bodyPr/>
          <a:lstStyle/>
          <a:p>
            <a:endParaRPr lang="en-IN"/>
          </a:p>
        </p:txBody>
      </p:sp>
      <p:sp>
        <p:nvSpPr>
          <p:cNvPr id="18" name="Text 16"/>
          <p:cNvSpPr/>
          <p:nvPr/>
        </p:nvSpPr>
        <p:spPr>
          <a:xfrm>
            <a:off x="4892040" y="2377440"/>
            <a:ext cx="3840480" cy="320040"/>
          </a:xfrm>
          <a:prstGeom prst="rect">
            <a:avLst/>
          </a:prstGeom>
          <a:noFill/>
          <a:ln/>
        </p:spPr>
        <p:txBody>
          <a:bodyPr wrap="square" lIns="0" tIns="0" rIns="0" bIns="0" rtlCol="0" anchor="ctr"/>
          <a:lstStyle/>
          <a:p>
            <a:pPr marL="0" indent="0">
              <a:buNone/>
            </a:pPr>
            <a:r>
              <a:rPr lang="en-US" sz="1300" b="1" dirty="0">
                <a:solidFill>
                  <a:srgbClr val="02C39A"/>
                </a:solidFill>
                <a:latin typeface="Trebuchet MS" pitchFamily="34" charset="0"/>
                <a:ea typeface="Trebuchet MS" pitchFamily="34" charset="-122"/>
                <a:cs typeface="Trebuchet MS" pitchFamily="34" charset="-120"/>
              </a:rPr>
              <a:t>💰  Treatment Cost Parity</a:t>
            </a:r>
            <a:endParaRPr lang="en-US" sz="1300" dirty="0"/>
          </a:p>
        </p:txBody>
      </p:sp>
      <p:sp>
        <p:nvSpPr>
          <p:cNvPr id="19" name="Text 17"/>
          <p:cNvSpPr/>
          <p:nvPr/>
        </p:nvSpPr>
        <p:spPr>
          <a:xfrm>
            <a:off x="4892040" y="2706624"/>
            <a:ext cx="388620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Average cost of $524.75 is consistent across treatment types — a positive sign for pricing equity across care modalities.</a:t>
            </a:r>
            <a:endParaRPr lang="en-US" sz="1050" dirty="0"/>
          </a:p>
        </p:txBody>
      </p:sp>
      <p:sp>
        <p:nvSpPr>
          <p:cNvPr id="20" name="Shape 18"/>
          <p:cNvSpPr/>
          <p:nvPr/>
        </p:nvSpPr>
        <p:spPr>
          <a:xfrm>
            <a:off x="274320" y="3611880"/>
            <a:ext cx="4160520" cy="1188720"/>
          </a:xfrm>
          <a:prstGeom prst="rect">
            <a:avLst/>
          </a:prstGeom>
          <a:solidFill>
            <a:srgbClr val="FFFFFF">
              <a:alpha val="8000"/>
            </a:srgbClr>
          </a:solidFill>
          <a:ln w="12700">
            <a:solidFill>
              <a:srgbClr val="028090">
                <a:alpha val="45000"/>
              </a:srgbClr>
            </a:solidFill>
            <a:prstDash val="solid"/>
          </a:ln>
        </p:spPr>
        <p:txBody>
          <a:bodyPr/>
          <a:lstStyle/>
          <a:p>
            <a:endParaRPr lang="en-IN"/>
          </a:p>
        </p:txBody>
      </p:sp>
      <p:sp>
        <p:nvSpPr>
          <p:cNvPr id="21" name="Shape 19"/>
          <p:cNvSpPr/>
          <p:nvPr/>
        </p:nvSpPr>
        <p:spPr>
          <a:xfrm>
            <a:off x="274320" y="3611880"/>
            <a:ext cx="54864" cy="1188720"/>
          </a:xfrm>
          <a:prstGeom prst="rect">
            <a:avLst/>
          </a:prstGeom>
          <a:solidFill>
            <a:srgbClr val="02C39A"/>
          </a:solidFill>
          <a:ln w="12700">
            <a:solidFill>
              <a:srgbClr val="02C39A"/>
            </a:solidFill>
            <a:prstDash val="solid"/>
          </a:ln>
        </p:spPr>
        <p:txBody>
          <a:bodyPr/>
          <a:lstStyle/>
          <a:p>
            <a:endParaRPr lang="en-IN"/>
          </a:p>
        </p:txBody>
      </p:sp>
      <p:sp>
        <p:nvSpPr>
          <p:cNvPr id="22" name="Text 20"/>
          <p:cNvSpPr/>
          <p:nvPr/>
        </p:nvSpPr>
        <p:spPr>
          <a:xfrm>
            <a:off x="411480" y="3703320"/>
            <a:ext cx="3840480" cy="320040"/>
          </a:xfrm>
          <a:prstGeom prst="rect">
            <a:avLst/>
          </a:prstGeom>
          <a:noFill/>
          <a:ln/>
        </p:spPr>
        <p:txBody>
          <a:bodyPr wrap="square" lIns="0" tIns="0" rIns="0" bIns="0" rtlCol="0" anchor="ctr"/>
          <a:lstStyle/>
          <a:p>
            <a:pPr marL="0" indent="0">
              <a:buNone/>
            </a:pPr>
            <a:r>
              <a:rPr lang="en-US" sz="1300" b="1" dirty="0">
                <a:solidFill>
                  <a:srgbClr val="02C39A"/>
                </a:solidFill>
                <a:latin typeface="Trebuchet MS" pitchFamily="34" charset="0"/>
                <a:ea typeface="Trebuchet MS" pitchFamily="34" charset="-122"/>
                <a:cs typeface="Trebuchet MS" pitchFamily="34" charset="-120"/>
              </a:rPr>
              <a:t>✅  Healthy Visit Outcomes</a:t>
            </a:r>
            <a:endParaRPr lang="en-US" sz="1300" dirty="0"/>
          </a:p>
        </p:txBody>
      </p:sp>
      <p:sp>
        <p:nvSpPr>
          <p:cNvPr id="23" name="Text 21"/>
          <p:cNvSpPr/>
          <p:nvPr/>
        </p:nvSpPr>
        <p:spPr>
          <a:xfrm>
            <a:off x="411480" y="4032504"/>
            <a:ext cx="388620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20% of visits resulted in a 'Healthy' diagnosis — suggesting effective preventive care or timely patient-initiated visits.</a:t>
            </a:r>
            <a:endParaRPr lang="en-US" sz="1050" dirty="0"/>
          </a:p>
        </p:txBody>
      </p:sp>
      <p:sp>
        <p:nvSpPr>
          <p:cNvPr id="24" name="Shape 22"/>
          <p:cNvSpPr/>
          <p:nvPr/>
        </p:nvSpPr>
        <p:spPr>
          <a:xfrm>
            <a:off x="4754880" y="3611880"/>
            <a:ext cx="4160520" cy="1188720"/>
          </a:xfrm>
          <a:prstGeom prst="rect">
            <a:avLst/>
          </a:prstGeom>
          <a:solidFill>
            <a:srgbClr val="FFFFFF">
              <a:alpha val="8000"/>
            </a:srgbClr>
          </a:solidFill>
          <a:ln w="12700">
            <a:solidFill>
              <a:srgbClr val="028090">
                <a:alpha val="45000"/>
              </a:srgbClr>
            </a:solidFill>
            <a:prstDash val="solid"/>
          </a:ln>
        </p:spPr>
        <p:txBody>
          <a:bodyPr/>
          <a:lstStyle/>
          <a:p>
            <a:endParaRPr lang="en-IN"/>
          </a:p>
        </p:txBody>
      </p:sp>
      <p:sp>
        <p:nvSpPr>
          <p:cNvPr id="25" name="Shape 23"/>
          <p:cNvSpPr/>
          <p:nvPr/>
        </p:nvSpPr>
        <p:spPr>
          <a:xfrm>
            <a:off x="4754880" y="3611880"/>
            <a:ext cx="54864" cy="1188720"/>
          </a:xfrm>
          <a:prstGeom prst="rect">
            <a:avLst/>
          </a:prstGeom>
          <a:solidFill>
            <a:srgbClr val="02C39A"/>
          </a:solidFill>
          <a:ln w="12700">
            <a:solidFill>
              <a:srgbClr val="02C39A"/>
            </a:solidFill>
            <a:prstDash val="solid"/>
          </a:ln>
        </p:spPr>
        <p:txBody>
          <a:bodyPr/>
          <a:lstStyle/>
          <a:p>
            <a:endParaRPr lang="en-IN"/>
          </a:p>
        </p:txBody>
      </p:sp>
      <p:sp>
        <p:nvSpPr>
          <p:cNvPr id="26" name="Text 24"/>
          <p:cNvSpPr/>
          <p:nvPr/>
        </p:nvSpPr>
        <p:spPr>
          <a:xfrm>
            <a:off x="4892040" y="3703320"/>
            <a:ext cx="3840480" cy="320040"/>
          </a:xfrm>
          <a:prstGeom prst="rect">
            <a:avLst/>
          </a:prstGeom>
          <a:noFill/>
          <a:ln/>
        </p:spPr>
        <p:txBody>
          <a:bodyPr wrap="square" lIns="0" tIns="0" rIns="0" bIns="0" rtlCol="0" anchor="ctr"/>
          <a:lstStyle/>
          <a:p>
            <a:pPr marL="0" indent="0">
              <a:buNone/>
            </a:pPr>
            <a:r>
              <a:rPr lang="en-US" sz="1300" b="1" dirty="0">
                <a:solidFill>
                  <a:srgbClr val="02C39A"/>
                </a:solidFill>
                <a:latin typeface="Trebuchet MS" pitchFamily="34" charset="0"/>
                <a:ea typeface="Trebuchet MS" pitchFamily="34" charset="-122"/>
                <a:cs typeface="Trebuchet MS" pitchFamily="34" charset="-120"/>
              </a:rPr>
              <a:t>👨‍⚕️  Balanced Specialist Mix</a:t>
            </a:r>
            <a:endParaRPr lang="en-US" sz="1300" dirty="0"/>
          </a:p>
        </p:txBody>
      </p:sp>
      <p:sp>
        <p:nvSpPr>
          <p:cNvPr id="27" name="Text 25"/>
          <p:cNvSpPr/>
          <p:nvPr/>
        </p:nvSpPr>
        <p:spPr>
          <a:xfrm>
            <a:off x="4892040" y="4032504"/>
            <a:ext cx="3886200" cy="6858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All 5 specialties are nearly equally distributed. Consider targeted hiring in Neurology which has the fewest doctors.</a:t>
            </a:r>
            <a:endParaRPr lang="en-US" sz="1050" dirty="0"/>
          </a:p>
        </p:txBody>
      </p:sp>
      <p:sp>
        <p:nvSpPr>
          <p:cNvPr id="28" name="Shape 26"/>
          <p:cNvSpPr/>
          <p:nvPr/>
        </p:nvSpPr>
        <p:spPr>
          <a:xfrm>
            <a:off x="0" y="4892040"/>
            <a:ext cx="9144000" cy="251460"/>
          </a:xfrm>
          <a:prstGeom prst="rect">
            <a:avLst/>
          </a:prstGeom>
          <a:solidFill>
            <a:srgbClr val="028090">
              <a:alpha val="40000"/>
            </a:srgbClr>
          </a:solidFill>
          <a:ln w="12700">
            <a:solidFill>
              <a:srgbClr val="028090">
                <a:alpha val="40000"/>
              </a:srgbClr>
            </a:solidFill>
            <a:prstDash val="solid"/>
          </a:ln>
        </p:spPr>
        <p:txBody>
          <a:bodyPr/>
          <a:lstStyle/>
          <a:p>
            <a:endParaRPr lang="en-IN"/>
          </a:p>
        </p:txBody>
      </p:sp>
      <p:sp>
        <p:nvSpPr>
          <p:cNvPr id="29" name="Text 27"/>
          <p:cNvSpPr/>
          <p:nvPr/>
        </p:nvSpPr>
        <p:spPr>
          <a:xfrm>
            <a:off x="0" y="4901184"/>
            <a:ext cx="9144000" cy="237744"/>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Powered by Excel  ·  Tableau  ·  Power BI  |  10,000 Patient Records  |  2023–2025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Rect"/>
          <p:cNvSpPr/>
          <p:nvPr/>
        </p:nvSpPr>
        <p:spPr>
          <a:xfrm>
            <a:off x="0" y="0"/>
            <a:ext cx="9144000" cy="5143500"/>
          </a:xfrm>
          <a:prstGeom prst="rect">
            <a:avLst/>
          </a:prstGeom>
          <a:solidFill>
            <a:srgbClr val="0A2342"/>
          </a:solidFill>
          <a:ln>
            <a:noFill/>
          </a:ln>
        </p:spPr>
        <p:txBody>
          <a:bodyPr/>
          <a:lstStyle/>
          <a:p>
            <a:endParaRPr lang="en-US"/>
          </a:p>
        </p:txBody>
      </p:sp>
      <p:sp>
        <p:nvSpPr>
          <p:cNvPr id="11" name="AccentBar"/>
          <p:cNvSpPr/>
          <p:nvPr/>
        </p:nvSpPr>
        <p:spPr>
          <a:xfrm>
            <a:off x="0" y="5029200"/>
            <a:ext cx="9144000" cy="114300"/>
          </a:xfrm>
          <a:prstGeom prst="rect">
            <a:avLst/>
          </a:prstGeom>
          <a:solidFill>
            <a:srgbClr val="028090"/>
          </a:solidFill>
          <a:ln>
            <a:noFill/>
          </a:ln>
        </p:spPr>
        <p:txBody>
          <a:bodyPr/>
          <a:lstStyle/>
          <a:p>
            <a:endParaRPr lang="en-US"/>
          </a:p>
        </p:txBody>
      </p:sp>
      <p:sp>
        <p:nvSpPr>
          <p:cNvPr id="2" name="TitleText"/>
          <p:cNvSpPr/>
          <p:nvPr/>
        </p:nvSpPr>
        <p:spPr>
          <a:xfrm>
            <a:off x="457200" y="685800"/>
            <a:ext cx="8229600" cy="1143000"/>
          </a:xfrm>
          <a:prstGeom prst="rect">
            <a:avLst/>
          </a:prstGeom>
          <a:noFill/>
          <a:ln>
            <a:noFill/>
          </a:ln>
        </p:spPr>
        <p:txBody>
          <a:bodyPr wrap="square" lIns="0" tIns="0" rIns="0" bIns="0" rtlCol="0" anchor="ctr"/>
          <a:lstStyle/>
          <a:p>
            <a:pPr algn="ctr">
              <a:buNone/>
            </a:pPr>
            <a:r>
              <a:rPr lang="en-US" sz="5400" b="1" dirty="0">
                <a:solidFill>
                  <a:srgbClr val="FFFFFF"/>
                </a:solidFill>
                <a:latin typeface="Trebuchet MS" pitchFamily="34" charset="0"/>
              </a:rPr>
              <a:t>Thank You</a:t>
            </a:r>
          </a:p>
        </p:txBody>
      </p:sp>
      <p:sp>
        <p:nvSpPr>
          <p:cNvPr id="12" name="Divider"/>
          <p:cNvSpPr/>
          <p:nvPr/>
        </p:nvSpPr>
        <p:spPr>
          <a:xfrm>
            <a:off x="3200400" y="1828800"/>
            <a:ext cx="2743200" cy="38100"/>
          </a:xfrm>
          <a:prstGeom prst="rect">
            <a:avLst/>
          </a:prstGeom>
          <a:solidFill>
            <a:srgbClr val="028090"/>
          </a:solidFill>
          <a:ln>
            <a:noFill/>
          </a:ln>
        </p:spPr>
        <p:txBody>
          <a:bodyPr/>
          <a:lstStyle/>
          <a:p>
            <a:endParaRPr lang="en-US"/>
          </a:p>
        </p:txBody>
      </p:sp>
      <p:sp>
        <p:nvSpPr>
          <p:cNvPr id="3" name="Tagline"/>
          <p:cNvSpPr/>
          <p:nvPr/>
        </p:nvSpPr>
        <p:spPr>
          <a:xfrm>
            <a:off x="457200" y="1905000"/>
            <a:ext cx="8229600" cy="457200"/>
          </a:xfrm>
          <a:prstGeom prst="rect">
            <a:avLst/>
          </a:prstGeom>
          <a:noFill/>
          <a:ln>
            <a:noFill/>
          </a:ln>
        </p:spPr>
        <p:txBody>
          <a:bodyPr wrap="square" lIns="0" tIns="0" rIns="0" bIns="0" rtlCol="0" anchor="ctr"/>
          <a:lstStyle/>
          <a:p>
            <a:pPr algn="ctr">
              <a:buNone/>
            </a:pPr>
            <a:r>
              <a:rPr lang="en-US" sz="1600" dirty="0">
                <a:solidFill>
                  <a:srgbClr val="02C39A"/>
                </a:solidFill>
                <a:latin typeface="Calibri" pitchFamily="34" charset="0"/>
              </a:rPr>
              <a:t>Healthcare Patient Data Analysis  •  10,000 Patient Records  •  2023–2025</a:t>
            </a:r>
          </a:p>
        </p:txBody>
      </p:sp>
      <p:sp>
        <p:nvSpPr>
          <p:cNvPr id="4" name="TeamNames"/>
          <p:cNvSpPr/>
          <p:nvPr/>
        </p:nvSpPr>
        <p:spPr>
          <a:xfrm>
            <a:off x="457200" y="2514600"/>
            <a:ext cx="8229600" cy="1371600"/>
          </a:xfrm>
          <a:prstGeom prst="rect">
            <a:avLst/>
          </a:prstGeom>
          <a:noFill/>
          <a:ln>
            <a:noFill/>
          </a:ln>
        </p:spPr>
        <p:txBody>
          <a:bodyPr wrap="square" lIns="0" tIns="0" rIns="0" bIns="0" rtlCol="0" anchor="ctr"/>
          <a:lstStyle/>
          <a:p>
            <a:pPr algn="ctr">
              <a:buNone/>
            </a:pPr>
            <a:r>
              <a:rPr lang="en-US" sz="1100" b="1" dirty="0">
                <a:solidFill>
                  <a:srgbClr val="9CB8C9"/>
                </a:solidFill>
                <a:latin typeface="Calibri" pitchFamily="34" charset="0"/>
              </a:rPr>
              <a:t>Presented by</a:t>
            </a:r>
          </a:p>
          <a:p>
            <a:pPr algn="ctr">
              <a:buNone/>
            </a:pPr>
            <a:r>
              <a:rPr lang="en-US" sz="1200" dirty="0">
                <a:solidFill>
                  <a:srgbClr val="FFFFFF"/>
                </a:solidFill>
                <a:latin typeface="Calibri" pitchFamily="34" charset="0"/>
              </a:rPr>
              <a:t> •  Marada Joshith  •  Suvrat Nair  •  Shreyas Shrikant Bhatkar  •  Soundarya G</a:t>
            </a:r>
          </a:p>
          <a:p>
            <a:pPr algn="ctr">
              <a:buNone/>
            </a:pPr>
            <a:r>
              <a:rPr lang="en-US" sz="1200" dirty="0">
                <a:solidFill>
                  <a:srgbClr val="FFFFFF"/>
                </a:solidFill>
                <a:latin typeface="Calibri" pitchFamily="34" charset="0"/>
              </a:rPr>
              <a:t>Gnana Prasanna Kode  •  Arun Poodari  •  Rahul M Chavan</a:t>
            </a:r>
          </a:p>
        </p:txBody>
      </p:sp>
      <p:sp>
        <p:nvSpPr>
          <p:cNvPr id="5" name="FooterTools"/>
          <p:cNvSpPr/>
          <p:nvPr/>
        </p:nvSpPr>
        <p:spPr>
          <a:xfrm>
            <a:off x="457200" y="4457700"/>
            <a:ext cx="8229600" cy="342900"/>
          </a:xfrm>
          <a:prstGeom prst="rect">
            <a:avLst/>
          </a:prstGeom>
          <a:noFill/>
          <a:ln>
            <a:noFill/>
          </a:ln>
        </p:spPr>
        <p:txBody>
          <a:bodyPr wrap="square" lIns="0" tIns="0" rIns="0" bIns="0" rtlCol="0" anchor="ctr"/>
          <a:lstStyle/>
          <a:p>
            <a:pPr algn="ctr">
              <a:buNone/>
            </a:pPr>
            <a:r>
              <a:rPr lang="en-US" sz="1000" dirty="0">
                <a:solidFill>
                  <a:srgbClr val="64748B"/>
                </a:solidFill>
                <a:latin typeface="Calibri" pitchFamily="34" charset="0"/>
              </a:rPr>
              <a:t>Powered by Excel  •  Tableau  •  Power BI  •  SQL</a:t>
            </a:r>
          </a:p>
        </p:txBody>
      </p:sp>
    </p:spTree>
    <p:extLst>
      <p:ext uri="{BB962C8B-B14F-4D97-AF65-F5344CB8AC3E}">
        <p14:creationId xmlns:p14="http://schemas.microsoft.com/office/powerpoint/2010/main" val="2655274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1343</Words>
  <Application>Microsoft Office PowerPoint</Application>
  <PresentationFormat>On-screen Show (16:9)</PresentationFormat>
  <Paragraphs>185</Paragraphs>
  <Slides>17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Consolas</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Patient Data Analysis</dc:title>
  <dc:subject>PptxGenJS Presentation</dc:subject>
  <dc:creator>PptxGenJS</dc:creator>
  <cp:lastModifiedBy>rahul chavan</cp:lastModifiedBy>
  <cp:revision>13</cp:revision>
  <dcterms:created xsi:type="dcterms:W3CDTF">2026-04-08T14:35:12Z</dcterms:created>
  <dcterms:modified xsi:type="dcterms:W3CDTF">2026-04-11T11:17:39Z</dcterms:modified>
</cp:coreProperties>
</file>